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7.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Lst>
  <p:sldSz cx="12192000" cy="6858000"/>
  <p:notesSz cx="6858000" cy="9144000"/>
  <p:embeddedFontLst>
    <p:embeddedFont>
      <p:font typeface="Lato" panose="020F0502020204030203"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4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rahul\Downloads\Sales+Datas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rahul\Downloads\Sales+Datas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ahul\Downloads\Sales+Datas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rahul\Downloads\Sales+Datase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rahul\Downloads\Sales+Datase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rahul\Downloads\Sales+Datase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rahul\Downloads\Sales+Dataset.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[Sales+Dataset.xlsx]Sheet1!PivotTable1</c:name>
    <c:fmtId val="1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Day's Spend</a:t>
            </a:r>
          </a:p>
        </c:rich>
      </c:tx>
      <c:layout>
        <c:manualLayout>
          <c:xMode val="edge"/>
          <c:yMode val="edge"/>
          <c:x val="0.31888888888888889"/>
          <c:y val="4.166666666666666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dLbl>
          <c:idx val="0"/>
          <c:layout>
            <c:manualLayout>
              <c:x val="-8.5691491688538929E-2"/>
              <c:y val="-0.14602216389617956"/>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dLbl>
          <c:idx val="0"/>
          <c:layout>
            <c:manualLayout>
              <c:x val="-8.5691491688538929E-2"/>
              <c:y val="-0.14602216389617956"/>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dLbl>
          <c:idx val="0"/>
          <c:layout>
            <c:manualLayout>
              <c:x val="-8.5691491688538929E-2"/>
              <c:y val="-0.14602216389617956"/>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s>
    <c:plotArea>
      <c:layout/>
      <c:pieChart>
        <c:varyColors val="1"/>
        <c:dLbls>
          <c:dLblPos val="bestFit"/>
          <c:showLegendKey val="0"/>
          <c:showVal val="1"/>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sales</a:t>
            </a:r>
            <a:r>
              <a:rPr lang="en-US" baseline="0"/>
              <a:t> Conversion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s>
    <c:plotArea>
      <c:layout/>
      <c:pieChart>
        <c:varyColors val="1"/>
        <c:dLbls>
          <c:dLblPos val="bestFit"/>
          <c:showLegendKey val="0"/>
          <c:showVal val="1"/>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[Sales+Dataset.xlsx]Sheet4!PivotTable6</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a:t>
            </a:r>
            <a:r>
              <a:rPr lang="en-US" baseline="0"/>
              <a:t> Leads Won Vs Loss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s>
    <c:plotArea>
      <c:layout/>
      <c:pieChart>
        <c:varyColors val="1"/>
        <c:ser>
          <c:idx val="0"/>
          <c:order val="0"/>
          <c:tx>
            <c:strRef>
              <c:f>Sheet4!$B$3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9EF-406F-AE7D-9736068168D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9EF-406F-AE7D-9736068168D4}"/>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Sheet4!$A$4:$A$6</c:f>
              <c:strCache>
                <c:ptCount val="2"/>
                <c:pt idx="0">
                  <c:v>Loss</c:v>
                </c:pt>
                <c:pt idx="1">
                  <c:v>Won</c:v>
                </c:pt>
              </c:strCache>
            </c:strRef>
          </c:cat>
          <c:val>
            <c:numRef>
              <c:f>Sheet4!$B$4:$B$6</c:f>
              <c:numCache>
                <c:formatCode>0%</c:formatCode>
                <c:ptCount val="2"/>
                <c:pt idx="0">
                  <c:v>0.77408522909323929</c:v>
                </c:pt>
                <c:pt idx="1">
                  <c:v>0.22591477090676065</c:v>
                </c:pt>
              </c:numCache>
            </c:numRef>
          </c:val>
          <c:extLst>
            <c:ext xmlns:c16="http://schemas.microsoft.com/office/drawing/2014/chart" uri="{C3380CC4-5D6E-409C-BE32-E72D297353CC}">
              <c16:uniqueId val="{00000004-39EF-406F-AE7D-9736068168D4}"/>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[Sales+Dataset.xlsx]Sheet4!PivotTable7</c:name>
    <c:fmtId val="2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Won Conversion from B2B</a:t>
            </a:r>
            <a:r>
              <a:rPr lang="en-US" baseline="0"/>
              <a:t>  Sales</a:t>
            </a:r>
            <a:endParaRPr lang="en-US"/>
          </a:p>
        </c:rich>
      </c:tx>
      <c:layout>
        <c:manualLayout>
          <c:xMode val="edge"/>
          <c:yMode val="edge"/>
          <c:x val="0.20240966754155729"/>
          <c:y val="3.703703703703703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Sheet4!$B$13</c:f>
              <c:strCache>
                <c:ptCount val="1"/>
                <c:pt idx="0">
                  <c:v>Total</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Sheet4!$A$14:$A$19</c:f>
              <c:strCache>
                <c:ptCount val="5"/>
                <c:pt idx="0">
                  <c:v>Enterprise Sellers</c:v>
                </c:pt>
                <c:pt idx="1">
                  <c:v>Marketing</c:v>
                </c:pt>
                <c:pt idx="2">
                  <c:v>Online Leads</c:v>
                </c:pt>
                <c:pt idx="3">
                  <c:v>Partners</c:v>
                </c:pt>
                <c:pt idx="4">
                  <c:v>Tele Sales</c:v>
                </c:pt>
              </c:strCache>
            </c:strRef>
          </c:cat>
          <c:val>
            <c:numRef>
              <c:f>Sheet4!$B$14:$B$19</c:f>
              <c:numCache>
                <c:formatCode>0.0%</c:formatCode>
                <c:ptCount val="5"/>
                <c:pt idx="0">
                  <c:v>0.54371135190333009</c:v>
                </c:pt>
                <c:pt idx="1">
                  <c:v>0.39257956543938277</c:v>
                </c:pt>
                <c:pt idx="2">
                  <c:v>2.2692460430022124E-3</c:v>
                </c:pt>
                <c:pt idx="3">
                  <c:v>3.001077891870426E-2</c:v>
                </c:pt>
                <c:pt idx="4">
                  <c:v>3.1429057695580645E-2</c:v>
                </c:pt>
              </c:numCache>
            </c:numRef>
          </c:val>
          <c:smooth val="0"/>
          <c:extLst>
            <c:ext xmlns:c16="http://schemas.microsoft.com/office/drawing/2014/chart" uri="{C3380CC4-5D6E-409C-BE32-E72D297353CC}">
              <c16:uniqueId val="{00000000-1FE8-4372-8DC4-35946B8BB37D}"/>
            </c:ext>
          </c:extLst>
        </c:ser>
        <c:dLbls>
          <c:dLblPos val="t"/>
          <c:showLegendKey val="0"/>
          <c:showVal val="1"/>
          <c:showCatName val="0"/>
          <c:showSerName val="0"/>
          <c:showPercent val="0"/>
          <c:showBubbleSize val="0"/>
        </c:dLbls>
        <c:marker val="1"/>
        <c:smooth val="0"/>
        <c:axId val="948122576"/>
        <c:axId val="948139376"/>
      </c:lineChart>
      <c:catAx>
        <c:axId val="948122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8139376"/>
        <c:crosses val="autoZero"/>
        <c:auto val="1"/>
        <c:lblAlgn val="ctr"/>
        <c:lblOffset val="100"/>
        <c:noMultiLvlLbl val="0"/>
      </c:catAx>
      <c:valAx>
        <c:axId val="948139376"/>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812257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[Sales+Dataset.xlsx]Sheet4!PivotTable8</c:name>
    <c:fmtId val="3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Opportunity</a:t>
            </a:r>
            <a:r>
              <a:rPr lang="en-US" baseline="0"/>
              <a:t> size in Technology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Sheet4!$B$22</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Sheet4!$A$23:$A$27</c:f>
              <c:strCache>
                <c:ptCount val="4"/>
                <c:pt idx="0">
                  <c:v>Analytics</c:v>
                </c:pt>
                <c:pt idx="1">
                  <c:v>ERP Implementation</c:v>
                </c:pt>
                <c:pt idx="2">
                  <c:v>Legacy Modernization</c:v>
                </c:pt>
                <c:pt idx="3">
                  <c:v>Technical Business Solutions</c:v>
                </c:pt>
              </c:strCache>
            </c:strRef>
          </c:cat>
          <c:val>
            <c:numRef>
              <c:f>Sheet4!$B$23:$B$27</c:f>
              <c:numCache>
                <c:formatCode>0.0%</c:formatCode>
                <c:ptCount val="4"/>
                <c:pt idx="0">
                  <c:v>3.3144999874503396E-3</c:v>
                </c:pt>
                <c:pt idx="1">
                  <c:v>0.61757093669373442</c:v>
                </c:pt>
                <c:pt idx="2">
                  <c:v>9.3780531835363275E-3</c:v>
                </c:pt>
                <c:pt idx="3">
                  <c:v>0.36973651013527892</c:v>
                </c:pt>
              </c:numCache>
            </c:numRef>
          </c:val>
          <c:extLst>
            <c:ext xmlns:c16="http://schemas.microsoft.com/office/drawing/2014/chart" uri="{C3380CC4-5D6E-409C-BE32-E72D297353CC}">
              <c16:uniqueId val="{00000000-5357-40EA-93CA-CF95FD348D75}"/>
            </c:ext>
          </c:extLst>
        </c:ser>
        <c:dLbls>
          <c:dLblPos val="outEnd"/>
          <c:showLegendKey val="0"/>
          <c:showVal val="1"/>
          <c:showCatName val="0"/>
          <c:showSerName val="0"/>
          <c:showPercent val="0"/>
          <c:showBubbleSize val="0"/>
        </c:dLbls>
        <c:gapWidth val="219"/>
        <c:overlap val="-27"/>
        <c:axId val="516822528"/>
        <c:axId val="516829728"/>
      </c:barChart>
      <c:catAx>
        <c:axId val="516822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6829728"/>
        <c:crosses val="autoZero"/>
        <c:auto val="1"/>
        <c:lblAlgn val="ctr"/>
        <c:lblOffset val="100"/>
        <c:noMultiLvlLbl val="0"/>
      </c:catAx>
      <c:valAx>
        <c:axId val="516829728"/>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68225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[Sales+Dataset.xlsx]Sheet4!PivotTable9</c:name>
    <c:fmtId val="44"/>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Sheet4!$B$32</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Sheet4!$A$33:$A$40</c:f>
              <c:strCache>
                <c:ptCount val="7"/>
                <c:pt idx="0">
                  <c:v>Mumbai</c:v>
                </c:pt>
                <c:pt idx="1">
                  <c:v>Delhi</c:v>
                </c:pt>
                <c:pt idx="2">
                  <c:v>Hyderabad</c:v>
                </c:pt>
                <c:pt idx="3">
                  <c:v>Chennai</c:v>
                </c:pt>
                <c:pt idx="4">
                  <c:v>Bengaluru</c:v>
                </c:pt>
                <c:pt idx="5">
                  <c:v>Kolkata</c:v>
                </c:pt>
                <c:pt idx="6">
                  <c:v>Pune</c:v>
                </c:pt>
              </c:strCache>
            </c:strRef>
          </c:cat>
          <c:val>
            <c:numRef>
              <c:f>Sheet4!$B$33:$B$40</c:f>
              <c:numCache>
                <c:formatCode>0%</c:formatCode>
                <c:ptCount val="7"/>
                <c:pt idx="0">
                  <c:v>0.25371075166508089</c:v>
                </c:pt>
                <c:pt idx="1">
                  <c:v>0.22744683661339321</c:v>
                </c:pt>
                <c:pt idx="2">
                  <c:v>0.21891247833622185</c:v>
                </c:pt>
                <c:pt idx="3">
                  <c:v>0.21815539112050739</c:v>
                </c:pt>
                <c:pt idx="4">
                  <c:v>0.21712730318257956</c:v>
                </c:pt>
                <c:pt idx="5">
                  <c:v>0.212693666757271</c:v>
                </c:pt>
                <c:pt idx="6">
                  <c:v>0.1887648718263216</c:v>
                </c:pt>
              </c:numCache>
            </c:numRef>
          </c:val>
          <c:extLst>
            <c:ext xmlns:c16="http://schemas.microsoft.com/office/drawing/2014/chart" uri="{C3380CC4-5D6E-409C-BE32-E72D297353CC}">
              <c16:uniqueId val="{00000000-ACD5-4359-A584-7E20EA5C2324}"/>
            </c:ext>
          </c:extLst>
        </c:ser>
        <c:dLbls>
          <c:dLblPos val="outEnd"/>
          <c:showLegendKey val="0"/>
          <c:showVal val="1"/>
          <c:showCatName val="0"/>
          <c:showSerName val="0"/>
          <c:showPercent val="0"/>
          <c:showBubbleSize val="0"/>
        </c:dLbls>
        <c:gapWidth val="219"/>
        <c:overlap val="-27"/>
        <c:axId val="516848448"/>
        <c:axId val="516835488"/>
      </c:barChart>
      <c:catAx>
        <c:axId val="516848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6835488"/>
        <c:crosses val="autoZero"/>
        <c:auto val="1"/>
        <c:lblAlgn val="ctr"/>
        <c:lblOffset val="100"/>
        <c:noMultiLvlLbl val="0"/>
      </c:catAx>
      <c:valAx>
        <c:axId val="51683548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68484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[Sales+Dataset.xlsx]Sheet4!PivotTable10</c:name>
    <c:fmtId val="5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B2B</a:t>
            </a:r>
            <a:r>
              <a:rPr lang="en-IN" baseline="0"/>
              <a:t> Sales</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Sheet4!$B$43:$B$44</c:f>
              <c:strCache>
                <c:ptCount val="1"/>
                <c:pt idx="0">
                  <c:v>Loss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Sheet4!$A$45:$A$50</c:f>
              <c:strCache>
                <c:ptCount val="5"/>
                <c:pt idx="0">
                  <c:v>Marketing</c:v>
                </c:pt>
                <c:pt idx="1">
                  <c:v>Enterprise Sellers</c:v>
                </c:pt>
                <c:pt idx="2">
                  <c:v>Partners</c:v>
                </c:pt>
                <c:pt idx="3">
                  <c:v>Tele Sales</c:v>
                </c:pt>
                <c:pt idx="4">
                  <c:v>Online Leads</c:v>
                </c:pt>
              </c:strCache>
            </c:strRef>
          </c:cat>
          <c:val>
            <c:numRef>
              <c:f>Sheet4!$B$45:$B$50</c:f>
              <c:numCache>
                <c:formatCode>0.00%</c:formatCode>
                <c:ptCount val="5"/>
                <c:pt idx="0">
                  <c:v>0.3888753604613906</c:v>
                </c:pt>
                <c:pt idx="1">
                  <c:v>0.32264017942966999</c:v>
                </c:pt>
                <c:pt idx="2">
                  <c:v>2.9823774431272029E-2</c:v>
                </c:pt>
                <c:pt idx="3">
                  <c:v>2.5325216276834348E-2</c:v>
                </c:pt>
                <c:pt idx="4">
                  <c:v>7.4206984940724131E-3</c:v>
                </c:pt>
              </c:numCache>
            </c:numRef>
          </c:val>
          <c:extLst>
            <c:ext xmlns:c16="http://schemas.microsoft.com/office/drawing/2014/chart" uri="{C3380CC4-5D6E-409C-BE32-E72D297353CC}">
              <c16:uniqueId val="{00000000-4620-48BB-BC6B-B660196537D4}"/>
            </c:ext>
          </c:extLst>
        </c:ser>
        <c:ser>
          <c:idx val="1"/>
          <c:order val="1"/>
          <c:tx>
            <c:strRef>
              <c:f>Sheet4!$C$43:$C$44</c:f>
              <c:strCache>
                <c:ptCount val="1"/>
                <c:pt idx="0">
                  <c:v>Won</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Sheet4!$A$45:$A$50</c:f>
              <c:strCache>
                <c:ptCount val="5"/>
                <c:pt idx="0">
                  <c:v>Marketing</c:v>
                </c:pt>
                <c:pt idx="1">
                  <c:v>Enterprise Sellers</c:v>
                </c:pt>
                <c:pt idx="2">
                  <c:v>Partners</c:v>
                </c:pt>
                <c:pt idx="3">
                  <c:v>Tele Sales</c:v>
                </c:pt>
                <c:pt idx="4">
                  <c:v>Online Leads</c:v>
                </c:pt>
              </c:strCache>
            </c:strRef>
          </c:cat>
          <c:val>
            <c:numRef>
              <c:f>Sheet4!$C$45:$C$50</c:f>
              <c:numCache>
                <c:formatCode>0.00%</c:formatCode>
                <c:ptCount val="5"/>
                <c:pt idx="0">
                  <c:v>8.8689522588913813E-2</c:v>
                </c:pt>
                <c:pt idx="1">
                  <c:v>0.12283242550464595</c:v>
                </c:pt>
                <c:pt idx="2">
                  <c:v>6.7798782441525155E-3</c:v>
                </c:pt>
                <c:pt idx="3">
                  <c:v>7.1002883691124643E-3</c:v>
                </c:pt>
                <c:pt idx="4">
                  <c:v>5.1265619993591798E-4</c:v>
                </c:pt>
              </c:numCache>
            </c:numRef>
          </c:val>
          <c:extLst>
            <c:ext xmlns:c16="http://schemas.microsoft.com/office/drawing/2014/chart" uri="{C3380CC4-5D6E-409C-BE32-E72D297353CC}">
              <c16:uniqueId val="{00000001-4620-48BB-BC6B-B660196537D4}"/>
            </c:ext>
          </c:extLst>
        </c:ser>
        <c:dLbls>
          <c:dLblPos val="ctr"/>
          <c:showLegendKey val="0"/>
          <c:showVal val="1"/>
          <c:showCatName val="0"/>
          <c:showSerName val="0"/>
          <c:showPercent val="0"/>
          <c:showBubbleSize val="0"/>
        </c:dLbls>
        <c:gapWidth val="150"/>
        <c:overlap val="100"/>
        <c:axId val="516864288"/>
        <c:axId val="516864768"/>
      </c:barChart>
      <c:catAx>
        <c:axId val="516864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6864768"/>
        <c:crosses val="autoZero"/>
        <c:auto val="1"/>
        <c:lblAlgn val="ctr"/>
        <c:lblOffset val="100"/>
        <c:noMultiLvlLbl val="0"/>
      </c:catAx>
      <c:valAx>
        <c:axId val="5168647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68642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Lato"/>
                <a:ea typeface="Lato"/>
                <a:cs typeface="Lato"/>
                <a:sym typeface="Lato"/>
              </a:rPr>
              <a:t>‹#›</a:t>
            </a:fld>
            <a:endParaRPr sz="1200" b="0" i="0" u="none" strike="noStrike" cap="none">
              <a:solidFill>
                <a:schemeClr val="dk1"/>
              </a:solidFill>
              <a:latin typeface="Lato"/>
              <a:ea typeface="Lato"/>
              <a:cs typeface="Lato"/>
              <a:sym typeface="Lato"/>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 name="Google Shape;8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Problem Statement</a:t>
            </a:r>
            <a:endParaRPr/>
          </a:p>
        </p:txBody>
      </p:sp>
      <p:sp>
        <p:nvSpPr>
          <p:cNvPr id="90" name="Google Shape;9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97" name="Google Shape;9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Provide at least three questions under each branch.</a:t>
            </a:r>
            <a:endParaRPr/>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All the frameworks that are used should be mentioned.</a:t>
            </a:r>
            <a:endParaRPr/>
          </a:p>
          <a:p>
            <a:pPr marL="457200" lvl="0" indent="-228600" algn="l" rtl="0">
              <a:lnSpc>
                <a:spcPct val="100000"/>
              </a:lnSpc>
              <a:spcBef>
                <a:spcPts val="0"/>
              </a:spcBef>
              <a:spcAft>
                <a:spcPts val="0"/>
              </a:spcAft>
              <a:buSzPts val="1400"/>
              <a:buFont typeface="Lato"/>
              <a:buChar char="-"/>
            </a:pPr>
            <a:r>
              <a:rPr lang="en-US"/>
              <a:t>A suitable reason is a must to provide here</a:t>
            </a:r>
            <a:endParaRPr/>
          </a:p>
        </p:txBody>
      </p:sp>
      <p:sp>
        <p:nvSpPr>
          <p:cNvPr id="120" name="Google Shape;12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Use the “download as” feature of Coggle if you are using the tool.</a:t>
            </a:r>
            <a:endParaRPr/>
          </a:p>
          <a:p>
            <a:pPr marL="457200" lvl="0" indent="-228600" algn="l" rtl="0">
              <a:lnSpc>
                <a:spcPct val="100000"/>
              </a:lnSpc>
              <a:spcBef>
                <a:spcPts val="0"/>
              </a:spcBef>
              <a:spcAft>
                <a:spcPts val="0"/>
              </a:spcAft>
              <a:buSzPts val="1400"/>
              <a:buFont typeface="Lato"/>
              <a:buChar char="-"/>
            </a:pPr>
            <a:r>
              <a:rPr lang="en-US"/>
              <a:t>Provide one image with complete tree along with separate elements where the text is readable.</a:t>
            </a:r>
            <a:endParaRPr/>
          </a:p>
          <a:p>
            <a:pPr marL="457200" lvl="0" indent="-228600" algn="l" rtl="0">
              <a:lnSpc>
                <a:spcPct val="100000"/>
              </a:lnSpc>
              <a:spcBef>
                <a:spcPts val="0"/>
              </a:spcBef>
              <a:spcAft>
                <a:spcPts val="0"/>
              </a:spcAft>
              <a:buSzPts val="1400"/>
              <a:buChar char="-"/>
            </a:pPr>
            <a:r>
              <a:rPr lang="en-US"/>
              <a:t>Copy the slide if you require more space</a:t>
            </a:r>
            <a:endParaRPr/>
          </a:p>
        </p:txBody>
      </p:sp>
      <p:sp>
        <p:nvSpPr>
          <p:cNvPr id="127" name="Google Shape;12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p:txBody>
      </p:sp>
      <p:sp>
        <p:nvSpPr>
          <p:cNvPr id="134" name="Google Shape;13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a:p>
            <a:pPr marL="457200" marR="0" lvl="0" indent="-228600" algn="l" rtl="0">
              <a:lnSpc>
                <a:spcPct val="100000"/>
              </a:lnSpc>
              <a:spcBef>
                <a:spcPts val="0"/>
              </a:spcBef>
              <a:spcAft>
                <a:spcPts val="0"/>
              </a:spcAft>
              <a:buSzPts val="1400"/>
              <a:buNone/>
            </a:pPr>
            <a:endParaRPr/>
          </a:p>
        </p:txBody>
      </p:sp>
      <p:sp>
        <p:nvSpPr>
          <p:cNvPr id="143" name="Google Shape;14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a:p>
            <a:pPr marL="457200" marR="0" lvl="0" indent="-228600" algn="l" rtl="0">
              <a:lnSpc>
                <a:spcPct val="100000"/>
              </a:lnSpc>
              <a:spcBef>
                <a:spcPts val="0"/>
              </a:spcBef>
              <a:spcAft>
                <a:spcPts val="0"/>
              </a:spcAft>
              <a:buSzPts val="1400"/>
              <a:buNone/>
            </a:pPr>
            <a:endParaRPr/>
          </a:p>
        </p:txBody>
      </p:sp>
      <p:sp>
        <p:nvSpPr>
          <p:cNvPr id="152" name="Google Shape;15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a:p>
            <a:pPr marL="457200" marR="0" lvl="0" indent="-228600" algn="l" rtl="0">
              <a:lnSpc>
                <a:spcPct val="100000"/>
              </a:lnSpc>
              <a:spcBef>
                <a:spcPts val="0"/>
              </a:spcBef>
              <a:spcAft>
                <a:spcPts val="0"/>
              </a:spcAft>
              <a:buSzPts val="1400"/>
              <a:buNone/>
            </a:pPr>
            <a:endParaRPr/>
          </a:p>
        </p:txBody>
      </p:sp>
      <p:sp>
        <p:nvSpPr>
          <p:cNvPr id="161" name="Google Shape;16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p:txBody>
      </p:sp>
      <p:sp>
        <p:nvSpPr>
          <p:cNvPr id="170" name="Google Shape;17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Analyse the variables in the dataset, find the insights and mention the pattern of insights in the data. Make more copies of this slide if needed.</a:t>
            </a:r>
            <a:endParaRPr/>
          </a:p>
        </p:txBody>
      </p:sp>
      <p:sp>
        <p:nvSpPr>
          <p:cNvPr id="179" name="Google Shape;17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endParaRPr/>
          </a:p>
        </p:txBody>
      </p:sp>
      <p:sp>
        <p:nvSpPr>
          <p:cNvPr id="188" name="Google Shape;18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endParaRPr/>
          </a:p>
        </p:txBody>
      </p:sp>
      <p:sp>
        <p:nvSpPr>
          <p:cNvPr id="195" name="Google Shape;19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endParaRPr/>
          </a:p>
        </p:txBody>
      </p:sp>
      <p:sp>
        <p:nvSpPr>
          <p:cNvPr id="202" name="Google Shape;20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endParaRPr/>
          </a:p>
        </p:txBody>
      </p:sp>
      <p:sp>
        <p:nvSpPr>
          <p:cNvPr id="209" name="Google Shape;209;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 Make more copies of this slide if needed.</a:t>
            </a:r>
            <a:endParaRPr/>
          </a:p>
        </p:txBody>
      </p:sp>
      <p:sp>
        <p:nvSpPr>
          <p:cNvPr id="216" name="Google Shape;21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recommendation explain the insights that form the reasoning for giving that recommendation. Make more copies of this slide if necessary.</a:t>
            </a:r>
            <a:endParaRPr/>
          </a:p>
        </p:txBody>
      </p:sp>
      <p:sp>
        <p:nvSpPr>
          <p:cNvPr id="223" name="Google Shape;22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You are free to use the elements and boxes mentioned previously. Make sure you’re using the pyramid principle, data visualization, visual design principle and storyboarding concepts to design these slides.</a:t>
            </a:r>
            <a:endParaRPr/>
          </a:p>
        </p:txBody>
      </p:sp>
      <p:sp>
        <p:nvSpPr>
          <p:cNvPr id="237" name="Google Shape;237;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lstStyle>
            <a:lvl1pPr lvl="0" algn="ctr">
              <a:lnSpc>
                <a:spcPct val="90000"/>
              </a:lnSpc>
              <a:spcBef>
                <a:spcPts val="0"/>
              </a:spcBef>
              <a:spcAft>
                <a:spcPts val="0"/>
              </a:spcAft>
              <a:buClr>
                <a:schemeClr val="dk1"/>
              </a:buClr>
              <a:buSzPts val="6000"/>
              <a:buFont typeface="Lato"/>
              <a:buNone/>
              <a:defRPr sz="6000">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lstStyle>
            <a:lvl1pPr lvl="0" algn="ctr">
              <a:lnSpc>
                <a:spcPct val="90000"/>
              </a:lnSpc>
              <a:spcBef>
                <a:spcPts val="1000"/>
              </a:spcBef>
              <a:spcAft>
                <a:spcPts val="0"/>
              </a:spcAft>
              <a:buClr>
                <a:schemeClr val="dk1"/>
              </a:buClr>
              <a:buSzPts val="2400"/>
              <a:buNone/>
              <a:defRPr sz="2400">
                <a:latin typeface="Lato"/>
                <a:ea typeface="Lato"/>
                <a:cs typeface="Lato"/>
                <a:sym typeface="Lat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6000"/>
              <a:buFont typeface="Lato"/>
              <a:buNone/>
              <a:defRPr sz="6000">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rgbClr val="888888"/>
              </a:buClr>
              <a:buSzPts val="2400"/>
              <a:buNone/>
              <a:defRPr sz="2400">
                <a:solidFill>
                  <a:srgbClr val="888888"/>
                </a:solidFill>
                <a:latin typeface="Lato"/>
                <a:ea typeface="Lato"/>
                <a:cs typeface="Lato"/>
                <a:sym typeface="Lato"/>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atin typeface="Lato"/>
                <a:ea typeface="Lato"/>
                <a:cs typeface="Lato"/>
                <a:sym typeface="Lato"/>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atin typeface="Lato"/>
                <a:ea typeface="Lato"/>
                <a:cs typeface="Lato"/>
                <a:sym typeface="Lato"/>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Lato"/>
              <a:buNone/>
              <a:defRPr sz="3200">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lstStyle>
            <a:lvl1pPr marL="457200" lvl="0" indent="-431800" algn="l">
              <a:lnSpc>
                <a:spcPct val="90000"/>
              </a:lnSpc>
              <a:spcBef>
                <a:spcPts val="1000"/>
              </a:spcBef>
              <a:spcAft>
                <a:spcPts val="0"/>
              </a:spcAft>
              <a:buClr>
                <a:schemeClr val="dk1"/>
              </a:buClr>
              <a:buSzPts val="3200"/>
              <a:buChar char="•"/>
              <a:defRPr sz="3200">
                <a:latin typeface="Lato"/>
                <a:ea typeface="Lato"/>
                <a:cs typeface="Lato"/>
                <a:sym typeface="Lato"/>
              </a:defRPr>
            </a:lvl1pPr>
            <a:lvl2pPr marL="914400" lvl="1" indent="-406400" algn="l">
              <a:lnSpc>
                <a:spcPct val="90000"/>
              </a:lnSpc>
              <a:spcBef>
                <a:spcPts val="500"/>
              </a:spcBef>
              <a:spcAft>
                <a:spcPts val="0"/>
              </a:spcAft>
              <a:buClr>
                <a:schemeClr val="dk1"/>
              </a:buClr>
              <a:buSzPts val="2800"/>
              <a:buChar char="•"/>
              <a:defRPr sz="2800">
                <a:latin typeface="Lato"/>
                <a:ea typeface="Lato"/>
                <a:cs typeface="Lato"/>
                <a:sym typeface="Lato"/>
              </a:defRPr>
            </a:lvl2pPr>
            <a:lvl3pPr marL="1371600" lvl="2" indent="-381000" algn="l">
              <a:lnSpc>
                <a:spcPct val="90000"/>
              </a:lnSpc>
              <a:spcBef>
                <a:spcPts val="500"/>
              </a:spcBef>
              <a:spcAft>
                <a:spcPts val="0"/>
              </a:spcAft>
              <a:buClr>
                <a:schemeClr val="dk1"/>
              </a:buClr>
              <a:buSzPts val="2400"/>
              <a:buChar char="•"/>
              <a:defRPr sz="2400">
                <a:latin typeface="Lato"/>
                <a:ea typeface="Lato"/>
                <a:cs typeface="Lato"/>
                <a:sym typeface="Lato"/>
              </a:defRPr>
            </a:lvl3pPr>
            <a:lvl4pPr marL="1828800" lvl="3" indent="-355600" algn="l">
              <a:lnSpc>
                <a:spcPct val="90000"/>
              </a:lnSpc>
              <a:spcBef>
                <a:spcPts val="500"/>
              </a:spcBef>
              <a:spcAft>
                <a:spcPts val="0"/>
              </a:spcAft>
              <a:buClr>
                <a:schemeClr val="dk1"/>
              </a:buClr>
              <a:buSzPts val="2000"/>
              <a:buChar char="•"/>
              <a:defRPr sz="2000">
                <a:latin typeface="Lato"/>
                <a:ea typeface="Lato"/>
                <a:cs typeface="Lato"/>
                <a:sym typeface="Lato"/>
              </a:defRPr>
            </a:lvl4pPr>
            <a:lvl5pPr marL="2286000" lvl="4" indent="-355600" algn="l">
              <a:lnSpc>
                <a:spcPct val="90000"/>
              </a:lnSpc>
              <a:spcBef>
                <a:spcPts val="500"/>
              </a:spcBef>
              <a:spcAft>
                <a:spcPts val="0"/>
              </a:spcAft>
              <a:buClr>
                <a:schemeClr val="dk1"/>
              </a:buClr>
              <a:buSzPts val="2000"/>
              <a:buChar char="•"/>
              <a:defRPr sz="2000">
                <a:latin typeface="Lato"/>
                <a:ea typeface="Lato"/>
                <a:cs typeface="Lato"/>
                <a:sym typeface="Lato"/>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6" name="Google Shape;56;p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atin typeface="Lato"/>
                <a:ea typeface="Lato"/>
                <a:cs typeface="Lato"/>
                <a:sym typeface="Lato"/>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Lato"/>
              <a:buNone/>
              <a:defRPr sz="3200">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Lato"/>
                <a:ea typeface="Lato"/>
                <a:cs typeface="Lato"/>
                <a:sym typeface="Lato"/>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Lato"/>
                <a:ea typeface="Lato"/>
                <a:cs typeface="Lato"/>
                <a:sym typeface="Lato"/>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Lato"/>
                <a:ea typeface="Lato"/>
                <a:cs typeface="Lato"/>
                <a:sym typeface="Lato"/>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Lato"/>
                <a:ea typeface="Lato"/>
                <a:cs typeface="Lato"/>
                <a:sym typeface="Lato"/>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atin typeface="Lato"/>
                <a:ea typeface="Lato"/>
                <a:cs typeface="Lato"/>
                <a:sym typeface="Lato"/>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Lato"/>
              <a:buNone/>
              <a:defRPr sz="44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2"/>
          <p:cNvSpPr txBox="1">
            <a:spLocks noGrp="1"/>
          </p:cNvSpPr>
          <p:nvPr>
            <p:ph type="title"/>
          </p:nvPr>
        </p:nvSpPr>
        <p:spPr>
          <a:xfrm>
            <a:off x="1446847" y="622499"/>
            <a:ext cx="9877789" cy="73947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43F3C"/>
              </a:buClr>
              <a:buSzPts val="3600"/>
              <a:buFont typeface="Lato"/>
              <a:buNone/>
            </a:pPr>
            <a:r>
              <a:rPr lang="en-US" sz="3600" b="1">
                <a:solidFill>
                  <a:srgbClr val="F43F3C"/>
                </a:solidFill>
              </a:rPr>
              <a:t>ASSIGNMENT GUIDELINES</a:t>
            </a:r>
            <a:endParaRPr/>
          </a:p>
        </p:txBody>
      </p:sp>
      <p:sp>
        <p:nvSpPr>
          <p:cNvPr id="85" name="Google Shape;85;p12"/>
          <p:cNvSpPr txBox="1"/>
          <p:nvPr/>
        </p:nvSpPr>
        <p:spPr>
          <a:xfrm>
            <a:off x="602478" y="1526520"/>
            <a:ext cx="10987044" cy="4708981"/>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Make </a:t>
            </a:r>
            <a:r>
              <a:rPr lang="en-US" sz="2000">
                <a:solidFill>
                  <a:srgbClr val="757070"/>
                </a:solidFill>
                <a:latin typeface="Lato"/>
                <a:ea typeface="Lato"/>
                <a:cs typeface="Lato"/>
                <a:sym typeface="Lato"/>
              </a:rPr>
              <a:t>the changes in the</a:t>
            </a:r>
            <a:r>
              <a:rPr lang="en-US" sz="2000" b="0" i="0" u="none" strike="noStrike" cap="none">
                <a:solidFill>
                  <a:srgbClr val="757070"/>
                </a:solidFill>
                <a:latin typeface="Lato"/>
                <a:ea typeface="Lato"/>
                <a:cs typeface="Lato"/>
                <a:sym typeface="Lato"/>
              </a:rPr>
              <a:t> PPT </a:t>
            </a:r>
            <a:r>
              <a:rPr lang="en-US" sz="2000">
                <a:solidFill>
                  <a:srgbClr val="757070"/>
                </a:solidFill>
                <a:latin typeface="Lato"/>
                <a:ea typeface="Lato"/>
                <a:cs typeface="Lato"/>
                <a:sym typeface="Lato"/>
              </a:rPr>
              <a:t>as you solve the parts</a:t>
            </a:r>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rgbClr val="757070"/>
              </a:solidFill>
              <a:latin typeface="Lato"/>
              <a:ea typeface="Lato"/>
              <a:cs typeface="Lato"/>
              <a:sym typeface="Lato"/>
            </a:endParaRPr>
          </a:p>
          <a:p>
            <a:pPr marL="342900" marR="0" lvl="0" indent="-34290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This file contains the template for all the parts of the project.</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rgbClr val="757070"/>
              </a:solidFill>
              <a:latin typeface="Lato"/>
              <a:ea typeface="Lato"/>
              <a:cs typeface="Lato"/>
              <a:sym typeface="Lato"/>
            </a:endParaRPr>
          </a:p>
          <a:p>
            <a:pPr marL="342900" marR="0" lvl="0" indent="-34290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Check the instructions added in the note section of every slide for clarity.</a:t>
            </a:r>
            <a:endParaRPr sz="2000" b="0" i="0" u="none" strike="noStrike" cap="none">
              <a:solidFill>
                <a:srgbClr val="757070"/>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757070"/>
              </a:solidFill>
              <a:latin typeface="Lato"/>
              <a:ea typeface="Lato"/>
              <a:cs typeface="Lato"/>
              <a:sym typeface="Lato"/>
            </a:endParaRPr>
          </a:p>
          <a:p>
            <a:pPr marL="342900" marR="0" lvl="0" indent="-34290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Don’t move around any image or text box</a:t>
            </a:r>
            <a:endParaRPr sz="2000" b="0" i="0" u="none" strike="noStrike" cap="none">
              <a:solidFill>
                <a:srgbClr val="757070"/>
              </a:solidFill>
              <a:latin typeface="Lato"/>
              <a:ea typeface="Lato"/>
              <a:cs typeface="Lato"/>
              <a:sym typeface="Lato"/>
            </a:endParaRPr>
          </a:p>
          <a:p>
            <a:pPr marL="0" marR="0" lvl="0" indent="0" algn="l" rtl="0">
              <a:lnSpc>
                <a:spcPct val="100000"/>
              </a:lnSpc>
              <a:spcBef>
                <a:spcPts val="0"/>
              </a:spcBef>
              <a:spcAft>
                <a:spcPts val="0"/>
              </a:spcAft>
              <a:buNone/>
            </a:pPr>
            <a:endParaRPr sz="2000" b="0" i="0" u="none" strike="noStrike" cap="none">
              <a:solidFill>
                <a:srgbClr val="757070"/>
              </a:solidFill>
              <a:latin typeface="Lato"/>
              <a:ea typeface="Lato"/>
              <a:cs typeface="Lato"/>
              <a:sym typeface="Lato"/>
            </a:endParaRPr>
          </a:p>
          <a:p>
            <a:pPr marL="285750" marR="0" lvl="0" indent="-28575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If you require more/lesser elements, be careful when you copy/delete the existing ones.</a:t>
            </a:r>
            <a:endParaRPr/>
          </a:p>
          <a:p>
            <a:pPr marL="285750" marR="0" lvl="0" indent="-158750" algn="l" rtl="0">
              <a:lnSpc>
                <a:spcPct val="100000"/>
              </a:lnSpc>
              <a:spcBef>
                <a:spcPts val="0"/>
              </a:spcBef>
              <a:spcAft>
                <a:spcPts val="0"/>
              </a:spcAft>
              <a:buClr>
                <a:srgbClr val="757070"/>
              </a:buClr>
              <a:buSzPts val="2000"/>
              <a:buFont typeface="Arial"/>
              <a:buNone/>
            </a:pPr>
            <a:endParaRPr sz="2000" b="0" i="0" u="none" strike="noStrike" cap="none">
              <a:solidFill>
                <a:srgbClr val="757070"/>
              </a:solidFill>
              <a:latin typeface="Lato"/>
              <a:ea typeface="Lato"/>
              <a:cs typeface="Lato"/>
              <a:sym typeface="Lato"/>
            </a:endParaRPr>
          </a:p>
          <a:p>
            <a:pPr marL="0" marR="0" lvl="0" indent="0" algn="l" rtl="0">
              <a:lnSpc>
                <a:spcPct val="100000"/>
              </a:lnSpc>
              <a:spcBef>
                <a:spcPts val="0"/>
              </a:spcBef>
              <a:spcAft>
                <a:spcPts val="0"/>
              </a:spcAft>
              <a:buNone/>
            </a:pPr>
            <a:endParaRPr sz="2000" b="0" i="0" u="none" strike="noStrike" cap="none">
              <a:solidFill>
                <a:srgbClr val="757070"/>
              </a:solidFill>
              <a:latin typeface="Lato"/>
              <a:ea typeface="Lato"/>
              <a:cs typeface="Lato"/>
              <a:sym typeface="Lato"/>
            </a:endParaRPr>
          </a:p>
        </p:txBody>
      </p:sp>
      <p:pic>
        <p:nvPicPr>
          <p:cNvPr id="86" name="Google Shape;86;p12" descr="A close up of a logo&#10;&#10;Description automatically generated"/>
          <p:cNvPicPr preferRelativeResize="0"/>
          <p:nvPr/>
        </p:nvPicPr>
        <p:blipFill rotWithShape="1">
          <a:blip r:embed="rId3">
            <a:alphaModFix/>
          </a:blip>
          <a:srcRect/>
          <a:stretch/>
        </p:blipFill>
        <p:spPr>
          <a:xfrm>
            <a:off x="10313895" y="171493"/>
            <a:ext cx="1648553" cy="45100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838200" y="1189588"/>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sz="4000" b="1" dirty="0">
                <a:solidFill>
                  <a:srgbClr val="EF413D"/>
                </a:solidFill>
              </a:rPr>
              <a:t>ASSIGNMENT</a:t>
            </a:r>
            <a:br>
              <a:rPr lang="en-US" sz="4000" b="1" dirty="0">
                <a:solidFill>
                  <a:srgbClr val="EF413D"/>
                </a:solidFill>
              </a:rPr>
            </a:br>
            <a:r>
              <a:rPr lang="en-US" sz="1100" b="1" dirty="0">
                <a:solidFill>
                  <a:srgbClr val="EF413D"/>
                </a:solidFill>
              </a:rPr>
              <a:t> </a:t>
            </a:r>
            <a:br>
              <a:rPr lang="en-US" sz="4000" b="1" dirty="0"/>
            </a:br>
            <a:r>
              <a:rPr lang="en-US" sz="3400" dirty="0">
                <a:solidFill>
                  <a:srgbClr val="5A5A5A"/>
                </a:solidFill>
              </a:rPr>
              <a:t>Name: Rahul Kumar</a:t>
            </a:r>
            <a:endParaRPr dirty="0">
              <a:solidFill>
                <a:srgbClr val="5A5A5A"/>
              </a:solidFill>
            </a:endParaRPr>
          </a:p>
        </p:txBody>
      </p:sp>
      <p:sp>
        <p:nvSpPr>
          <p:cNvPr id="93" name="Google Shape;93;p13"/>
          <p:cNvSpPr txBox="1">
            <a:spLocks noGrp="1"/>
          </p:cNvSpPr>
          <p:nvPr>
            <p:ph type="body" idx="1"/>
          </p:nvPr>
        </p:nvSpPr>
        <p:spPr>
          <a:xfrm>
            <a:off x="838200" y="3339612"/>
            <a:ext cx="10515600" cy="3312300"/>
          </a:xfrm>
          <a:prstGeom prst="rect">
            <a:avLst/>
          </a:prstGeom>
          <a:noFill/>
          <a:ln>
            <a:noFill/>
          </a:ln>
        </p:spPr>
        <p:txBody>
          <a:bodyPr spcFirstLastPara="1" wrap="square" lIns="91425" tIns="45700" rIns="91425" bIns="45700" anchor="t" anchorCtr="0">
            <a:noAutofit/>
          </a:bodyPr>
          <a:lstStyle/>
          <a:p>
            <a:pPr marL="50800" lvl="0" indent="0" algn="l" rtl="0">
              <a:lnSpc>
                <a:spcPct val="90000"/>
              </a:lnSpc>
              <a:spcBef>
                <a:spcPts val="1000"/>
              </a:spcBef>
              <a:spcAft>
                <a:spcPts val="0"/>
              </a:spcAft>
              <a:buSzPts val="2800"/>
              <a:buNone/>
            </a:pPr>
            <a:r>
              <a:rPr lang="en-US" sz="2400">
                <a:solidFill>
                  <a:srgbClr val="EF413D"/>
                </a:solidFill>
              </a:rPr>
              <a:t>Problem Statement</a:t>
            </a:r>
            <a:br>
              <a:rPr lang="en-US"/>
            </a:br>
            <a:r>
              <a:rPr lang="en-US" sz="1400"/>
              <a:t> </a:t>
            </a:r>
            <a:br>
              <a:rPr lang="en-US"/>
            </a:br>
            <a:r>
              <a:rPr lang="en-US" sz="2000">
                <a:solidFill>
                  <a:srgbClr val="5A5A5A"/>
                </a:solidFill>
              </a:rPr>
              <a:t>The sales pipeline conversion percentage at TechnoServe (a tech SaaS startup) has dropped from 35% at the end of last fiscal (FY 2017-18) to 25% at present.</a:t>
            </a:r>
            <a:endParaRPr sz="2000">
              <a:solidFill>
                <a:srgbClr val="5A5A5A"/>
              </a:solidFill>
            </a:endParaRPr>
          </a:p>
          <a:p>
            <a:pPr marL="50800" lvl="0" indent="0" algn="l" rtl="0">
              <a:lnSpc>
                <a:spcPct val="90000"/>
              </a:lnSpc>
              <a:spcBef>
                <a:spcPts val="1000"/>
              </a:spcBef>
              <a:spcAft>
                <a:spcPts val="0"/>
              </a:spcAft>
              <a:buSzPts val="2800"/>
              <a:buNone/>
            </a:pPr>
            <a:endParaRPr sz="2000">
              <a:solidFill>
                <a:srgbClr val="5A5A5A"/>
              </a:solidFill>
            </a:endParaRPr>
          </a:p>
          <a:p>
            <a:pPr marL="50800" marR="0" lvl="0" indent="0" algn="l" rtl="0">
              <a:lnSpc>
                <a:spcPct val="90000"/>
              </a:lnSpc>
              <a:spcBef>
                <a:spcPts val="0"/>
              </a:spcBef>
              <a:spcAft>
                <a:spcPts val="0"/>
              </a:spcAft>
              <a:buSzPts val="2800"/>
              <a:buNone/>
            </a:pPr>
            <a:r>
              <a:rPr lang="en-US" sz="2400">
                <a:solidFill>
                  <a:srgbClr val="EF413D"/>
                </a:solidFill>
              </a:rPr>
              <a:t>Assignment Objective</a:t>
            </a:r>
            <a:endParaRPr sz="2400">
              <a:solidFill>
                <a:srgbClr val="EF413D"/>
              </a:solidFill>
            </a:endParaRPr>
          </a:p>
          <a:p>
            <a:pPr marL="50800" lvl="0" indent="0" algn="l" rtl="0">
              <a:spcBef>
                <a:spcPts val="0"/>
              </a:spcBef>
              <a:spcAft>
                <a:spcPts val="0"/>
              </a:spcAft>
              <a:buClr>
                <a:schemeClr val="dk1"/>
              </a:buClr>
              <a:buSzPts val="2800"/>
              <a:buFont typeface="Arial"/>
              <a:buNone/>
            </a:pPr>
            <a:r>
              <a:rPr lang="en-US" sz="1400"/>
              <a:t> </a:t>
            </a:r>
            <a:endParaRPr sz="2400">
              <a:solidFill>
                <a:srgbClr val="EF413D"/>
              </a:solidFill>
            </a:endParaRPr>
          </a:p>
          <a:p>
            <a:pPr marL="50800" marR="0" lvl="0" indent="0" algn="l" rtl="0">
              <a:lnSpc>
                <a:spcPct val="90000"/>
              </a:lnSpc>
              <a:spcBef>
                <a:spcPts val="0"/>
              </a:spcBef>
              <a:spcAft>
                <a:spcPts val="0"/>
              </a:spcAft>
              <a:buSzPts val="2800"/>
              <a:buNone/>
            </a:pPr>
            <a:r>
              <a:rPr lang="en-US" sz="2000">
                <a:solidFill>
                  <a:srgbClr val="5A5A5A"/>
                </a:solidFill>
              </a:rPr>
              <a:t>Understand the problem, come up with a hypothesis for low conversions faced by TechnoServe, and analyse the dataset provided to arrive at possible solutions to increase it.</a:t>
            </a:r>
            <a:endParaRPr sz="2000">
              <a:solidFill>
                <a:srgbClr val="5A5A5A"/>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 : 1. Understanding the Problem</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00" name="Google Shape;100;p14"/>
          <p:cNvGrpSpPr/>
          <p:nvPr/>
        </p:nvGrpSpPr>
        <p:grpSpPr>
          <a:xfrm>
            <a:off x="589265" y="2008707"/>
            <a:ext cx="11005471" cy="4680040"/>
            <a:chOff x="589265" y="4726688"/>
            <a:chExt cx="11005471" cy="751196"/>
          </a:xfrm>
        </p:grpSpPr>
        <p:sp>
          <p:nvSpPr>
            <p:cNvPr id="101" name="Google Shape;101;p14"/>
            <p:cNvSpPr txBox="1"/>
            <p:nvPr/>
          </p:nvSpPr>
          <p:spPr>
            <a:xfrm>
              <a:off x="589265" y="4726688"/>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Who?</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Type your answer here</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Lato"/>
                  <a:ea typeface="Lato"/>
                  <a:cs typeface="Lato"/>
                  <a:sym typeface="Lato"/>
                </a:rPr>
                <a:t>Who is affected and which team are impacted ?</a:t>
              </a:r>
              <a:br>
                <a:rPr lang="en-US" sz="1400" b="0" i="0" u="none" strike="noStrike" cap="none" dirty="0">
                  <a:solidFill>
                    <a:srgbClr val="000000"/>
                  </a:solidFill>
                  <a:latin typeface="Lato"/>
                  <a:ea typeface="Lato"/>
                  <a:cs typeface="Lato"/>
                  <a:sym typeface="Lato"/>
                </a:rPr>
              </a:br>
              <a:endParaRPr lang="en-US" sz="1400" b="0" i="0" u="none" strike="noStrike" cap="none" dirty="0">
                <a:solidFill>
                  <a:srgbClr val="000000"/>
                </a:solidFill>
                <a:latin typeface="Lato"/>
                <a:ea typeface="Lato"/>
                <a:cs typeface="Lato"/>
                <a:sym typeface="Lato"/>
              </a:endParaRPr>
            </a:p>
            <a:p>
              <a:pPr marL="400050" marR="0" lvl="0" indent="-400050" algn="l" rtl="0">
                <a:lnSpc>
                  <a:spcPct val="100000"/>
                </a:lnSpc>
                <a:spcBef>
                  <a:spcPts val="0"/>
                </a:spcBef>
                <a:spcAft>
                  <a:spcPts val="0"/>
                </a:spcAft>
                <a:buFont typeface="+mj-lt"/>
                <a:buAutoNum type="romanLcPeriod"/>
              </a:pPr>
              <a:r>
                <a:rPr lang="en-US" dirty="0">
                  <a:latin typeface="Lato"/>
                  <a:ea typeface="Lato"/>
                  <a:cs typeface="Lato"/>
                  <a:sym typeface="Lato"/>
                </a:rPr>
                <a:t>Sales Team</a:t>
              </a:r>
            </a:p>
            <a:p>
              <a:pPr marL="400050" marR="0" lvl="0" indent="-400050" algn="l" rtl="0">
                <a:lnSpc>
                  <a:spcPct val="100000"/>
                </a:lnSpc>
                <a:spcBef>
                  <a:spcPts val="0"/>
                </a:spcBef>
                <a:spcAft>
                  <a:spcPts val="0"/>
                </a:spcAft>
                <a:buFont typeface="+mj-lt"/>
                <a:buAutoNum type="romanLcPeriod"/>
              </a:pPr>
              <a:r>
                <a:rPr lang="en-US" sz="1400" b="0" i="0" u="none" strike="noStrike" cap="none" dirty="0">
                  <a:solidFill>
                    <a:srgbClr val="000000"/>
                  </a:solidFill>
                  <a:latin typeface="Lato"/>
                  <a:ea typeface="Lato"/>
                  <a:cs typeface="Lato"/>
                  <a:sym typeface="Lato"/>
                </a:rPr>
                <a:t>Marketing Team</a:t>
              </a:r>
            </a:p>
            <a:p>
              <a:pPr marL="400050" marR="0" lvl="0" indent="-400050" algn="l" rtl="0">
                <a:lnSpc>
                  <a:spcPct val="100000"/>
                </a:lnSpc>
                <a:spcBef>
                  <a:spcPts val="0"/>
                </a:spcBef>
                <a:spcAft>
                  <a:spcPts val="0"/>
                </a:spcAft>
                <a:buFont typeface="+mj-lt"/>
                <a:buAutoNum type="romanLcPeriod"/>
              </a:pPr>
              <a:r>
                <a:rPr lang="en-US" dirty="0">
                  <a:latin typeface="Lato"/>
                  <a:ea typeface="Lato"/>
                  <a:cs typeface="Lato"/>
                  <a:sym typeface="Lato"/>
                </a:rPr>
                <a:t>Product Team</a:t>
              </a:r>
            </a:p>
            <a:p>
              <a:pPr marL="400050" marR="0" lvl="0" indent="-400050" algn="l" rtl="0">
                <a:lnSpc>
                  <a:spcPct val="100000"/>
                </a:lnSpc>
                <a:spcBef>
                  <a:spcPts val="0"/>
                </a:spcBef>
                <a:spcAft>
                  <a:spcPts val="0"/>
                </a:spcAft>
                <a:buFont typeface="+mj-lt"/>
                <a:buAutoNum type="romanLcPeriod"/>
              </a:pPr>
              <a:r>
                <a:rPr lang="en-US" dirty="0">
                  <a:latin typeface="Lato"/>
                  <a:ea typeface="Lato"/>
                  <a:cs typeface="Lato"/>
                  <a:sym typeface="Lato"/>
                </a:rPr>
                <a:t>Top level management</a:t>
              </a:r>
              <a:endParaRPr sz="1400" b="0" i="0" u="none" strike="noStrike" cap="none" dirty="0">
                <a:solidFill>
                  <a:srgbClr val="000000"/>
                </a:solidFill>
                <a:latin typeface="Lato"/>
                <a:ea typeface="Lato"/>
                <a:cs typeface="Lato"/>
                <a:sym typeface="Lato"/>
              </a:endParaRPr>
            </a:p>
          </p:txBody>
        </p:sp>
        <p:sp>
          <p:nvSpPr>
            <p:cNvPr id="102" name="Google Shape;102;p14"/>
            <p:cNvSpPr txBox="1"/>
            <p:nvPr/>
          </p:nvSpPr>
          <p:spPr>
            <a:xfrm>
              <a:off x="2830332" y="4726688"/>
              <a:ext cx="2041200" cy="75119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What?</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Type your answer here</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b="1" dirty="0">
                  <a:latin typeface="Lato"/>
                  <a:ea typeface="Lato"/>
                  <a:cs typeface="Lato"/>
                  <a:sym typeface="Lato"/>
                </a:rPr>
                <a:t>What is the situation caused by the problem?</a:t>
              </a:r>
              <a:br>
                <a:rPr lang="en-US" dirty="0">
                  <a:latin typeface="Lato"/>
                  <a:ea typeface="Lato"/>
                  <a:cs typeface="Lato"/>
                  <a:sym typeface="Lato"/>
                </a:rPr>
              </a:br>
              <a:endParaRPr lang="en-US" dirty="0">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The sales pipeline conversion is low 25% only.</a:t>
              </a: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Leads quality is inconsistence.</a:t>
              </a: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Customers expectation is sifted.</a:t>
              </a:r>
            </a:p>
            <a:p>
              <a:pPr marL="285750" marR="0" lvl="0" indent="-285750" algn="l" rtl="0">
                <a:lnSpc>
                  <a:spcPct val="100000"/>
                </a:lnSpc>
                <a:spcBef>
                  <a:spcPts val="0"/>
                </a:spcBef>
                <a:spcAft>
                  <a:spcPts val="0"/>
                </a:spcAft>
                <a:buFont typeface="Arial" panose="020B0604020202020204" pitchFamily="34" charset="0"/>
                <a:buChar char="•"/>
              </a:pPr>
              <a:endParaRPr lang="en-US" dirty="0">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Revenue growth is slow down </a:t>
              </a:r>
              <a:endParaRPr dirty="0"/>
            </a:p>
          </p:txBody>
        </p:sp>
        <p:sp>
          <p:nvSpPr>
            <p:cNvPr id="103" name="Google Shape;103;p14"/>
            <p:cNvSpPr txBox="1"/>
            <p:nvPr/>
          </p:nvSpPr>
          <p:spPr>
            <a:xfrm>
              <a:off x="5071401" y="4726689"/>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When?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Type your answer here</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b="1" dirty="0">
                  <a:latin typeface="Lato"/>
                  <a:ea typeface="Lato"/>
                  <a:cs typeface="Lato"/>
                  <a:sym typeface="Lato"/>
                </a:rPr>
                <a:t>When did the issue first noticed?</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In the last financial year when Q conversion started decline.</a:t>
              </a: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This trend become serious in the last two Q. after cost cutting in marketing and reduce fud in production</a:t>
              </a:r>
            </a:p>
            <a:p>
              <a:pPr marR="0" lvl="0" algn="l" rtl="0">
                <a:lnSpc>
                  <a:spcPct val="100000"/>
                </a:lnSpc>
                <a:spcBef>
                  <a:spcPts val="0"/>
                </a:spcBef>
                <a:spcAft>
                  <a:spcPts val="0"/>
                </a:spcAft>
              </a:pPr>
              <a:endParaRPr dirty="0"/>
            </a:p>
          </p:txBody>
        </p:sp>
        <p:sp>
          <p:nvSpPr>
            <p:cNvPr id="104" name="Google Shape;104;p14"/>
            <p:cNvSpPr txBox="1"/>
            <p:nvPr/>
          </p:nvSpPr>
          <p:spPr>
            <a:xfrm>
              <a:off x="9553536" y="4726694"/>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How?</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Type your answer here</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b="1" dirty="0">
                  <a:latin typeface="Lato"/>
                  <a:ea typeface="Lato"/>
                  <a:cs typeface="Lato"/>
                  <a:sym typeface="Lato"/>
                </a:rPr>
                <a:t>How is the company currently dealing with it, and what outcomes have seen?</a:t>
              </a:r>
              <a:br>
                <a:rPr lang="en-US" dirty="0">
                  <a:latin typeface="Lato"/>
                  <a:ea typeface="Lato"/>
                  <a:cs typeface="Lato"/>
                  <a:sym typeface="Lato"/>
                </a:rPr>
              </a:br>
              <a:endParaRPr lang="en-US" dirty="0">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b="1" dirty="0">
                  <a:latin typeface="Lato"/>
                  <a:ea typeface="Lato"/>
                  <a:cs typeface="Lato"/>
                  <a:sym typeface="Lato"/>
                </a:rPr>
                <a:t>Current Action: </a:t>
              </a:r>
            </a:p>
            <a:p>
              <a:pPr marR="0" lvl="0" algn="l" rtl="0">
                <a:lnSpc>
                  <a:spcPct val="100000"/>
                </a:lnSpc>
                <a:spcBef>
                  <a:spcPts val="0"/>
                </a:spcBef>
                <a:spcAft>
                  <a:spcPts val="0"/>
                </a:spcAft>
              </a:pPr>
              <a:r>
                <a:rPr lang="en-US" dirty="0">
                  <a:latin typeface="Lato"/>
                  <a:ea typeface="Lato"/>
                  <a:cs typeface="Lato"/>
                  <a:sym typeface="Lato"/>
                </a:rPr>
                <a:t>Increasing tele sales activity to compensate for fewer marketing event.</a:t>
              </a:r>
              <a:br>
                <a:rPr lang="en-US" dirty="0">
                  <a:latin typeface="Lato"/>
                  <a:ea typeface="Lato"/>
                  <a:cs typeface="Lato"/>
                  <a:sym typeface="Lato"/>
                </a:rPr>
              </a:br>
              <a:r>
                <a:rPr lang="en-US" dirty="0">
                  <a:latin typeface="Lato"/>
                  <a:ea typeface="Lato"/>
                  <a:cs typeface="Lato"/>
                  <a:sym typeface="Lato"/>
                </a:rPr>
                <a:t>Trying to optimize cost by using low – budget digital campaigns.</a:t>
              </a:r>
            </a:p>
            <a:p>
              <a:pPr marL="285750" marR="0" lvl="0" indent="-285750" algn="l" rtl="0">
                <a:lnSpc>
                  <a:spcPct val="100000"/>
                </a:lnSpc>
                <a:spcBef>
                  <a:spcPts val="0"/>
                </a:spcBef>
                <a:spcAft>
                  <a:spcPts val="0"/>
                </a:spcAft>
                <a:buFont typeface="Arial" panose="020B0604020202020204" pitchFamily="34" charset="0"/>
                <a:buChar char="•"/>
              </a:pPr>
              <a:r>
                <a:rPr lang="en-US" b="1" dirty="0">
                  <a:latin typeface="Lato"/>
                  <a:ea typeface="Lato"/>
                  <a:cs typeface="Lato"/>
                  <a:sym typeface="Lato"/>
                </a:rPr>
                <a:t>Outcomes: </a:t>
              </a:r>
              <a:r>
                <a:rPr lang="en-US" dirty="0">
                  <a:latin typeface="Lato"/>
                  <a:ea typeface="Lato"/>
                  <a:cs typeface="Lato"/>
                  <a:sym typeface="Lato"/>
                </a:rPr>
                <a:t>No major improvement in conversion rates.</a:t>
              </a:r>
              <a:br>
                <a:rPr lang="en-US" dirty="0">
                  <a:latin typeface="Lato"/>
                  <a:ea typeface="Lato"/>
                  <a:cs typeface="Lato"/>
                  <a:sym typeface="Lato"/>
                </a:rPr>
              </a:br>
              <a:br>
                <a:rPr lang="en-US" dirty="0">
                  <a:latin typeface="Lato"/>
                  <a:ea typeface="Lato"/>
                  <a:cs typeface="Lato"/>
                  <a:sym typeface="Lato"/>
                </a:rPr>
              </a:br>
              <a:r>
                <a:rPr lang="en-US" dirty="0">
                  <a:latin typeface="Lato"/>
                  <a:ea typeface="Lato"/>
                  <a:cs typeface="Lato"/>
                  <a:sym typeface="Lato"/>
                </a:rPr>
                <a:t>  </a:t>
              </a:r>
              <a:endParaRPr dirty="0"/>
            </a:p>
          </p:txBody>
        </p:sp>
        <p:sp>
          <p:nvSpPr>
            <p:cNvPr id="105" name="Google Shape;105;p14"/>
            <p:cNvSpPr txBox="1"/>
            <p:nvPr/>
          </p:nvSpPr>
          <p:spPr>
            <a:xfrm>
              <a:off x="7312469" y="4726691"/>
              <a:ext cx="2041200" cy="75119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Where?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Type your answer here</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b="1" dirty="0">
                  <a:latin typeface="Lato"/>
                  <a:ea typeface="Lato"/>
                  <a:cs typeface="Lato"/>
                  <a:sym typeface="Lato"/>
                </a:rPr>
                <a:t>Where exactly the issue is happening?</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342900" marR="0" lvl="0" indent="-34290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In the sales funnel</a:t>
              </a:r>
            </a:p>
            <a:p>
              <a:pPr marL="342900" marR="0" lvl="0" indent="-34290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Lead generation – Qualification-conversion stage.</a:t>
              </a:r>
              <a:endParaRPr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 : 2. Understanding the Problem</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12" name="Google Shape;112;p15"/>
          <p:cNvGrpSpPr/>
          <p:nvPr/>
        </p:nvGrpSpPr>
        <p:grpSpPr>
          <a:xfrm>
            <a:off x="619593" y="2008719"/>
            <a:ext cx="10952814" cy="4680010"/>
            <a:chOff x="589265" y="4726688"/>
            <a:chExt cx="8764405" cy="751191"/>
          </a:xfrm>
        </p:grpSpPr>
        <p:sp>
          <p:nvSpPr>
            <p:cNvPr id="113" name="Google Shape;113;p15"/>
            <p:cNvSpPr txBox="1"/>
            <p:nvPr/>
          </p:nvSpPr>
          <p:spPr>
            <a:xfrm>
              <a:off x="589265" y="4726688"/>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Situation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Type your answer here</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sz="1400" b="0" i="0" u="none" strike="noStrike" cap="none" dirty="0">
                  <a:solidFill>
                    <a:srgbClr val="000000"/>
                  </a:solidFill>
                  <a:latin typeface="Lato"/>
                  <a:ea typeface="Lato"/>
                  <a:cs typeface="Lato"/>
                  <a:sym typeface="Lato"/>
                </a:rPr>
                <a:t>Our product has been become outdated and customers no longer interested in thi</a:t>
              </a:r>
              <a:r>
                <a:rPr lang="en-US" dirty="0">
                  <a:latin typeface="Lato"/>
                  <a:ea typeface="Lato"/>
                  <a:cs typeface="Lato"/>
                  <a:sym typeface="Lato"/>
                </a:rPr>
                <a:t>s </a:t>
              </a:r>
              <a:r>
                <a:rPr lang="en-US" sz="1400" b="0" i="0" u="none" strike="noStrike" cap="none" dirty="0">
                  <a:solidFill>
                    <a:srgbClr val="000000"/>
                  </a:solidFill>
                  <a:latin typeface="Lato"/>
                  <a:ea typeface="Lato"/>
                  <a:cs typeface="Lato"/>
                  <a:sym typeface="Lato"/>
                </a:rPr>
                <a:t>product.</a:t>
              </a: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As of this result our sales target is not completing and our conversion is 25 % only.</a:t>
              </a:r>
            </a:p>
            <a:p>
              <a:pPr marL="285750" marR="0" lvl="0" indent="-285750" algn="l" rtl="0">
                <a:lnSpc>
                  <a:spcPct val="100000"/>
                </a:lnSpc>
                <a:spcBef>
                  <a:spcPts val="0"/>
                </a:spcBef>
                <a:spcAft>
                  <a:spcPts val="0"/>
                </a:spcAft>
                <a:buFont typeface="Arial" panose="020B0604020202020204" pitchFamily="34" charset="0"/>
                <a:buChar char="•"/>
              </a:pPr>
              <a:r>
                <a:rPr lang="en-US" sz="1400" b="0" i="0" u="none" strike="noStrike" cap="none" dirty="0">
                  <a:solidFill>
                    <a:srgbClr val="000000"/>
                  </a:solidFill>
                  <a:latin typeface="Lato"/>
                  <a:ea typeface="Lato"/>
                  <a:cs typeface="Lato"/>
                  <a:sym typeface="Lato"/>
                </a:rPr>
                <a:t>As we have cut do</a:t>
              </a:r>
              <a:r>
                <a:rPr lang="en-US" dirty="0">
                  <a:latin typeface="Lato"/>
                  <a:ea typeface="Lato"/>
                  <a:cs typeface="Lato"/>
                  <a:sym typeface="Lato"/>
                </a:rPr>
                <a:t>wn the marketing expanse our main lead source are tele sales and social channels for lead generation.</a:t>
              </a:r>
              <a:endParaRPr sz="1400" b="0" i="0" u="none" strike="noStrike" cap="none" dirty="0">
                <a:solidFill>
                  <a:srgbClr val="000000"/>
                </a:solidFill>
                <a:latin typeface="Lato"/>
                <a:ea typeface="Lato"/>
                <a:cs typeface="Lato"/>
                <a:sym typeface="Lato"/>
              </a:endParaRPr>
            </a:p>
          </p:txBody>
        </p:sp>
        <p:sp>
          <p:nvSpPr>
            <p:cNvPr id="114" name="Google Shape;114;p15"/>
            <p:cNvSpPr txBox="1"/>
            <p:nvPr/>
          </p:nvSpPr>
          <p:spPr>
            <a:xfrm>
              <a:off x="2830333" y="4726689"/>
              <a:ext cx="2041200" cy="75119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Problem</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Type your answer here</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The sales conversion is dropped to 25%. As a sharp decline from last year.</a:t>
              </a: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Our most sales are conversion is coming from tele sales and social media marketing but these are not genuine for B2B segment</a:t>
              </a: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Due to lake of upgrade and old features in our product customers lost there trust and no longer interested in our product.</a:t>
              </a:r>
              <a:endParaRPr dirty="0"/>
            </a:p>
          </p:txBody>
        </p:sp>
        <p:sp>
          <p:nvSpPr>
            <p:cNvPr id="115" name="Google Shape;115;p15"/>
            <p:cNvSpPr txBox="1"/>
            <p:nvPr/>
          </p:nvSpPr>
          <p:spPr>
            <a:xfrm>
              <a:off x="5071401" y="4726689"/>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Implication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Type your answer here</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Due to this company losing its existing customers and also, they are not able to onboard new clients.</a:t>
              </a:r>
            </a:p>
            <a:p>
              <a:pPr marL="285750" marR="0" lvl="0" indent="-285750" algn="l" rtl="0">
                <a:lnSpc>
                  <a:spcPct val="100000"/>
                </a:lnSpc>
                <a:spcBef>
                  <a:spcPts val="0"/>
                </a:spcBef>
                <a:spcAft>
                  <a:spcPts val="0"/>
                </a:spcAft>
                <a:buFont typeface="Arial" panose="020B0604020202020204" pitchFamily="34" charset="0"/>
                <a:buChar char="•"/>
              </a:pPr>
              <a:endParaRPr lang="en-US" dirty="0">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If these continue like this </a:t>
              </a:r>
              <a:r>
                <a:rPr lang="en-US" dirty="0" err="1">
                  <a:latin typeface="Lato"/>
                  <a:ea typeface="Lato"/>
                  <a:cs typeface="Lato"/>
                  <a:sym typeface="Lato"/>
                </a:rPr>
                <a:t>TechnoServe</a:t>
              </a:r>
              <a:r>
                <a:rPr lang="en-US" dirty="0">
                  <a:latin typeface="Lato"/>
                  <a:ea typeface="Lato"/>
                  <a:cs typeface="Lato"/>
                  <a:sym typeface="Lato"/>
                </a:rPr>
                <a:t> will lose his market share and competitors  who are offering updated product will capture the market. </a:t>
              </a:r>
              <a:endParaRPr dirty="0"/>
            </a:p>
          </p:txBody>
        </p:sp>
        <p:sp>
          <p:nvSpPr>
            <p:cNvPr id="116" name="Google Shape;116;p15"/>
            <p:cNvSpPr txBox="1"/>
            <p:nvPr/>
          </p:nvSpPr>
          <p:spPr>
            <a:xfrm>
              <a:off x="7312470" y="4726688"/>
              <a:ext cx="2041200" cy="75119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Need-Payoff</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Type your answer here</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Why customers is not choosing our product even though our reach and visibility is good?</a:t>
              </a:r>
            </a:p>
            <a:p>
              <a:pPr marL="285750" marR="0" lvl="0" indent="-285750" algn="l" rtl="0">
                <a:lnSpc>
                  <a:spcPct val="100000"/>
                </a:lnSpc>
                <a:spcBef>
                  <a:spcPts val="0"/>
                </a:spcBef>
                <a:spcAft>
                  <a:spcPts val="0"/>
                </a:spcAft>
                <a:buFont typeface="Arial" panose="020B0604020202020204" pitchFamily="34" charset="0"/>
                <a:buChar char="•"/>
              </a:pPr>
              <a:endParaRPr lang="en-US" dirty="0">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What are the issues with our product that making less appealing to the customers ?</a:t>
              </a:r>
            </a:p>
            <a:p>
              <a:pPr marL="285750" marR="0" lvl="0" indent="-285750" algn="l" rtl="0">
                <a:lnSpc>
                  <a:spcPct val="100000"/>
                </a:lnSpc>
                <a:spcBef>
                  <a:spcPts val="0"/>
                </a:spcBef>
                <a:spcAft>
                  <a:spcPts val="0"/>
                </a:spcAft>
                <a:buFont typeface="Arial" panose="020B0604020202020204" pitchFamily="34" charset="0"/>
                <a:buChar char="•"/>
              </a:pPr>
              <a:endParaRPr lang="en-US" dirty="0">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Why steps has been not taken to rectify these issues?</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 </a:t>
              </a:r>
              <a:endParaRPr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23" name="Google Shape;123;p16"/>
          <p:cNvSpPr txBox="1"/>
          <p:nvPr/>
        </p:nvSpPr>
        <p:spPr>
          <a:xfrm>
            <a:off x="514664" y="2009522"/>
            <a:ext cx="11162674" cy="4493538"/>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Framework Used</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dirty="0">
                <a:latin typeface="Lato"/>
                <a:ea typeface="Lato"/>
                <a:cs typeface="Lato"/>
                <a:sym typeface="Lato"/>
              </a:rPr>
              <a:t>5 C’s of Marketing</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Reason for using the selected framework</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lvl="0"/>
            <a:r>
              <a:rPr lang="en-US" dirty="0"/>
              <a:t>I used the 5C framework because most of our challenges were related to marketing. We were not reaching the right customers, and our approach was still limited to basic social media. The company wasn’t using advanced marketing methods, which made it hard to expand our reach. By applying the 5C framework, I was able to understand the gaps in customers, competitors, channels, and company capabilities, and identify where we needed to improv.</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How you have used the framework here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lvl="0"/>
            <a:r>
              <a:rPr lang="en-US" dirty="0"/>
              <a:t>I used the 5C framework by breaking our main problem into five parts. I looked at the company to understand our internal gaps, the customers to see who we were not reaching, and the competitors to study how they were attracting the same audience. I reviewed our collaborations and partners to check if we were using them effectively. Finally, I studied the market context to understand trends and changes in marketing. This helped me see the exact areas where our strategy was weak and what needed to be improved.</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pic>
        <p:nvPicPr>
          <p:cNvPr id="5" name="Picture 4">
            <a:extLst>
              <a:ext uri="{FF2B5EF4-FFF2-40B4-BE49-F238E27FC236}">
                <a16:creationId xmlns:a16="http://schemas.microsoft.com/office/drawing/2014/main" id="{9B4E003A-DF43-F5AF-3E8E-60AD39CD2597}"/>
              </a:ext>
            </a:extLst>
          </p:cNvPr>
          <p:cNvPicPr>
            <a:picLocks noChangeAspect="1"/>
          </p:cNvPicPr>
          <p:nvPr/>
        </p:nvPicPr>
        <p:blipFill>
          <a:blip r:embed="rId3"/>
          <a:stretch>
            <a:fillRect/>
          </a:stretch>
        </p:blipFill>
        <p:spPr>
          <a:xfrm>
            <a:off x="2964986" y="1524000"/>
            <a:ext cx="6262028" cy="533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37" name="Google Shape;137;p18"/>
          <p:cNvGrpSpPr/>
          <p:nvPr/>
        </p:nvGrpSpPr>
        <p:grpSpPr>
          <a:xfrm>
            <a:off x="514664" y="2009457"/>
            <a:ext cx="11162675" cy="4635023"/>
            <a:chOff x="589265" y="4632481"/>
            <a:chExt cx="2041200" cy="231293"/>
          </a:xfrm>
        </p:grpSpPr>
        <p:sp>
          <p:nvSpPr>
            <p:cNvPr id="138" name="Google Shape;138;p18"/>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1800" b="1" dirty="0">
                  <a:solidFill>
                    <a:schemeClr val="dk1"/>
                  </a:solidFill>
                  <a:latin typeface="Lato"/>
                  <a:ea typeface="Lato"/>
                  <a:cs typeface="Lato"/>
                  <a:sym typeface="Lato"/>
                </a:rPr>
                <a:t>Branch 1</a:t>
              </a:r>
              <a:endParaRPr dirty="0">
                <a:solidFill>
                  <a:schemeClr val="dk1"/>
                </a:solidFill>
              </a:endParaRPr>
            </a:p>
            <a:p>
              <a:pPr marL="0" lvl="0" indent="0" algn="l" rtl="0">
                <a:spcBef>
                  <a:spcPts val="0"/>
                </a:spcBef>
                <a:spcAft>
                  <a:spcPts val="0"/>
                </a:spcAft>
                <a:buClr>
                  <a:schemeClr val="dk1"/>
                </a:buClr>
                <a:buFont typeface="Arial"/>
                <a:buNone/>
              </a:pPr>
              <a:r>
                <a:rPr lang="en-IN" sz="1800" b="1" dirty="0">
                  <a:solidFill>
                    <a:schemeClr val="dk1"/>
                  </a:solidFill>
                  <a:latin typeface="Lato"/>
                  <a:ea typeface="Lato"/>
                  <a:cs typeface="Lato"/>
                  <a:sym typeface="Lato"/>
                </a:rPr>
                <a:t>Company</a:t>
              </a:r>
              <a:endParaRPr sz="1800" b="1" dirty="0">
                <a:solidFill>
                  <a:schemeClr val="dk1"/>
                </a:solidFill>
                <a:latin typeface="Lato"/>
                <a:ea typeface="Lato"/>
                <a:cs typeface="Lato"/>
                <a:sym typeface="Lato"/>
              </a:endParaRPr>
            </a:p>
          </p:txBody>
        </p:sp>
        <p:sp>
          <p:nvSpPr>
            <p:cNvPr id="139" name="Google Shape;139;p18"/>
            <p:cNvSpPr txBox="1"/>
            <p:nvPr/>
          </p:nvSpPr>
          <p:spPr>
            <a:xfrm>
              <a:off x="589265" y="4755988"/>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2</a:t>
              </a:r>
              <a:endParaRPr dirty="0"/>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Company : Product</a:t>
              </a:r>
              <a:br>
                <a:rPr lang="en-US" dirty="0">
                  <a:latin typeface="Lato"/>
                  <a:ea typeface="Lato"/>
                  <a:cs typeface="Lato"/>
                  <a:sym typeface="Lato"/>
                </a:rPr>
              </a:br>
              <a:r>
                <a:rPr lang="en-US" dirty="0">
                  <a:latin typeface="Lato"/>
                  <a:ea typeface="Lato"/>
                  <a:cs typeface="Lato"/>
                  <a:sym typeface="Lato"/>
                </a:rPr>
                <a:t>	Brand Image</a:t>
              </a:r>
              <a:endParaRPr sz="1100" b="0" i="0" u="none" strike="noStrike" cap="none" dirty="0">
                <a:solidFill>
                  <a:srgbClr val="000000"/>
                </a:solidFill>
                <a:latin typeface="Lato"/>
                <a:ea typeface="Lato"/>
                <a:cs typeface="Lato"/>
                <a:sym typeface="Lato"/>
              </a:endParaRPr>
            </a:p>
          </p:txBody>
        </p:sp>
      </p:grpSp>
      <p:pic>
        <p:nvPicPr>
          <p:cNvPr id="7" name="Picture 6">
            <a:extLst>
              <a:ext uri="{FF2B5EF4-FFF2-40B4-BE49-F238E27FC236}">
                <a16:creationId xmlns:a16="http://schemas.microsoft.com/office/drawing/2014/main" id="{0E2C8D58-679A-5FA5-8603-CA73ECFB10E1}"/>
              </a:ext>
            </a:extLst>
          </p:cNvPr>
          <p:cNvPicPr>
            <a:picLocks noChangeAspect="1"/>
          </p:cNvPicPr>
          <p:nvPr/>
        </p:nvPicPr>
        <p:blipFill>
          <a:blip r:embed="rId3"/>
          <a:stretch>
            <a:fillRect/>
          </a:stretch>
        </p:blipFill>
        <p:spPr>
          <a:xfrm>
            <a:off x="4533746" y="2279140"/>
            <a:ext cx="3551228" cy="1620623"/>
          </a:xfrm>
          <a:prstGeom prst="rect">
            <a:avLst/>
          </a:prstGeom>
        </p:spPr>
      </p:pic>
      <p:pic>
        <p:nvPicPr>
          <p:cNvPr id="11" name="Picture 10">
            <a:extLst>
              <a:ext uri="{FF2B5EF4-FFF2-40B4-BE49-F238E27FC236}">
                <a16:creationId xmlns:a16="http://schemas.microsoft.com/office/drawing/2014/main" id="{1EEDC003-5CD3-6E95-B7F7-9ECBBAFDC5C6}"/>
              </a:ext>
            </a:extLst>
          </p:cNvPr>
          <p:cNvPicPr>
            <a:picLocks noChangeAspect="1"/>
          </p:cNvPicPr>
          <p:nvPr/>
        </p:nvPicPr>
        <p:blipFill>
          <a:blip r:embed="rId4"/>
          <a:stretch>
            <a:fillRect/>
          </a:stretch>
        </p:blipFill>
        <p:spPr>
          <a:xfrm>
            <a:off x="3548094" y="4636095"/>
            <a:ext cx="6599492" cy="20083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46" name="Google Shape;146;p19"/>
          <p:cNvGrpSpPr/>
          <p:nvPr/>
        </p:nvGrpSpPr>
        <p:grpSpPr>
          <a:xfrm>
            <a:off x="514664" y="1986992"/>
            <a:ext cx="11386196" cy="4616306"/>
            <a:chOff x="589265" y="4631360"/>
            <a:chExt cx="2082073" cy="230359"/>
          </a:xfrm>
        </p:grpSpPr>
        <p:sp>
          <p:nvSpPr>
            <p:cNvPr id="147" name="Google Shape;147;p19"/>
            <p:cNvSpPr txBox="1"/>
            <p:nvPr/>
          </p:nvSpPr>
          <p:spPr>
            <a:xfrm>
              <a:off x="630138" y="4631360"/>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3</a:t>
              </a:r>
              <a:endParaRPr dirty="0"/>
            </a:p>
            <a:p>
              <a:pPr marL="0" marR="0" lvl="0" indent="0" algn="l" rtl="0">
                <a:lnSpc>
                  <a:spcPct val="100000"/>
                </a:lnSpc>
                <a:spcBef>
                  <a:spcPts val="0"/>
                </a:spcBef>
                <a:spcAft>
                  <a:spcPts val="0"/>
                </a:spcAft>
                <a:buNone/>
              </a:pPr>
              <a:r>
                <a:rPr lang="en-IN" sz="1100" dirty="0">
                  <a:latin typeface="Lato"/>
                  <a:ea typeface="Lato"/>
                  <a:cs typeface="Lato"/>
                  <a:sym typeface="Lato"/>
                </a:rPr>
                <a:t>Company branch 3 Internal – sales and marketing </a:t>
              </a:r>
              <a:endParaRPr sz="1800" b="1" i="0" u="none" strike="noStrike" cap="none" dirty="0">
                <a:solidFill>
                  <a:srgbClr val="000000"/>
                </a:solidFill>
                <a:latin typeface="Lato"/>
                <a:ea typeface="Lato"/>
                <a:cs typeface="Lato"/>
                <a:sym typeface="Lato"/>
              </a:endParaRPr>
            </a:p>
          </p:txBody>
        </p:sp>
        <p:sp>
          <p:nvSpPr>
            <p:cNvPr id="148" name="Google Shape;148;p19"/>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4</a:t>
              </a:r>
              <a:endParaRPr dirty="0"/>
            </a:p>
            <a:p>
              <a:pPr marL="0" marR="0" lvl="0" indent="0" algn="l" rtl="0">
                <a:lnSpc>
                  <a:spcPct val="100000"/>
                </a:lnSpc>
                <a:spcBef>
                  <a:spcPts val="0"/>
                </a:spcBef>
                <a:spcAft>
                  <a:spcPts val="0"/>
                </a:spcAft>
                <a:buNone/>
              </a:pPr>
              <a:r>
                <a:rPr lang="en-IN" b="1" dirty="0">
                  <a:sym typeface="Lato"/>
                </a:rPr>
                <a:t>Customers – Target Audience</a:t>
              </a:r>
            </a:p>
            <a:p>
              <a:pPr marL="0" marR="0" lvl="0" indent="0" algn="l" rtl="0">
                <a:lnSpc>
                  <a:spcPct val="100000"/>
                </a:lnSpc>
                <a:spcBef>
                  <a:spcPts val="0"/>
                </a:spcBef>
                <a:spcAft>
                  <a:spcPts val="0"/>
                </a:spcAft>
                <a:buNone/>
              </a:pPr>
              <a:r>
                <a:rPr lang="en-IN" b="1" dirty="0">
                  <a:sym typeface="Lato"/>
                </a:rPr>
                <a:t> </a:t>
              </a:r>
              <a:endParaRPr b="1" dirty="0">
                <a:sym typeface="Lato"/>
              </a:endParaRPr>
            </a:p>
          </p:txBody>
        </p:sp>
      </p:grpSp>
      <p:pic>
        <p:nvPicPr>
          <p:cNvPr id="7" name="Picture 6">
            <a:extLst>
              <a:ext uri="{FF2B5EF4-FFF2-40B4-BE49-F238E27FC236}">
                <a16:creationId xmlns:a16="http://schemas.microsoft.com/office/drawing/2014/main" id="{A729086D-B12F-FA20-7079-2E8E35A168AB}"/>
              </a:ext>
            </a:extLst>
          </p:cNvPr>
          <p:cNvPicPr>
            <a:picLocks noChangeAspect="1"/>
          </p:cNvPicPr>
          <p:nvPr/>
        </p:nvPicPr>
        <p:blipFill>
          <a:blip r:embed="rId3"/>
          <a:stretch>
            <a:fillRect/>
          </a:stretch>
        </p:blipFill>
        <p:spPr>
          <a:xfrm>
            <a:off x="3916982" y="2202704"/>
            <a:ext cx="7536833" cy="1728565"/>
          </a:xfrm>
          <a:prstGeom prst="rect">
            <a:avLst/>
          </a:prstGeom>
        </p:spPr>
      </p:pic>
      <p:pic>
        <p:nvPicPr>
          <p:cNvPr id="9" name="Picture 8">
            <a:extLst>
              <a:ext uri="{FF2B5EF4-FFF2-40B4-BE49-F238E27FC236}">
                <a16:creationId xmlns:a16="http://schemas.microsoft.com/office/drawing/2014/main" id="{19D71502-7C87-C190-442C-9A56D038D851}"/>
              </a:ext>
            </a:extLst>
          </p:cNvPr>
          <p:cNvPicPr>
            <a:picLocks noChangeAspect="1"/>
          </p:cNvPicPr>
          <p:nvPr/>
        </p:nvPicPr>
        <p:blipFill>
          <a:blip r:embed="rId4"/>
          <a:stretch>
            <a:fillRect/>
          </a:stretch>
        </p:blipFill>
        <p:spPr>
          <a:xfrm>
            <a:off x="4444839" y="4637974"/>
            <a:ext cx="3749365" cy="15241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55" name="Google Shape;155;p20"/>
          <p:cNvGrpSpPr/>
          <p:nvPr/>
        </p:nvGrpSpPr>
        <p:grpSpPr>
          <a:xfrm>
            <a:off x="912485" y="1999305"/>
            <a:ext cx="11162675" cy="4593842"/>
            <a:chOff x="589265" y="4632481"/>
            <a:chExt cx="2041200" cy="229238"/>
          </a:xfrm>
        </p:grpSpPr>
        <p:sp>
          <p:nvSpPr>
            <p:cNvPr id="156" name="Google Shape;156;p20"/>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5</a:t>
              </a:r>
              <a:endParaRPr dirty="0"/>
            </a:p>
            <a:p>
              <a:r>
                <a:rPr lang="en-IN" sz="1800" b="1" dirty="0">
                  <a:sym typeface="Lato"/>
                </a:rPr>
                <a:t>Customers – Target Audience</a:t>
              </a:r>
            </a:p>
            <a:p>
              <a:pPr marL="285750" marR="0" lvl="0" indent="-285750" algn="l" rtl="0">
                <a:lnSpc>
                  <a:spcPct val="100000"/>
                </a:lnSpc>
                <a:spcBef>
                  <a:spcPts val="0"/>
                </a:spcBef>
                <a:spcAft>
                  <a:spcPts val="0"/>
                </a:spcAft>
                <a:buFontTx/>
                <a:buChar char="-"/>
              </a:pPr>
              <a:r>
                <a:rPr lang="en-IN" sz="1200" i="0" u="none" strike="noStrike" cap="none" dirty="0">
                  <a:solidFill>
                    <a:srgbClr val="000000"/>
                  </a:solidFill>
                  <a:latin typeface="Lato"/>
                  <a:ea typeface="Lato"/>
                  <a:cs typeface="Lato"/>
                  <a:sym typeface="Lato"/>
                </a:rPr>
                <a:t>Industry</a:t>
              </a:r>
            </a:p>
            <a:p>
              <a:pPr marL="285750" marR="0" lvl="0" indent="-285750" algn="l" rtl="0">
                <a:lnSpc>
                  <a:spcPct val="100000"/>
                </a:lnSpc>
                <a:spcBef>
                  <a:spcPts val="0"/>
                </a:spcBef>
                <a:spcAft>
                  <a:spcPts val="0"/>
                </a:spcAft>
                <a:buFontTx/>
                <a:buChar char="-"/>
              </a:pPr>
              <a:r>
                <a:rPr lang="en-IN" sz="1200" dirty="0">
                  <a:latin typeface="Lato"/>
                  <a:ea typeface="Lato"/>
                  <a:cs typeface="Lato"/>
                  <a:sym typeface="Lato"/>
                </a:rPr>
                <a:t>Budget</a:t>
              </a:r>
            </a:p>
            <a:p>
              <a:pPr marL="285750" marR="0" lvl="0" indent="-285750" algn="l" rtl="0">
                <a:lnSpc>
                  <a:spcPct val="100000"/>
                </a:lnSpc>
                <a:spcBef>
                  <a:spcPts val="0"/>
                </a:spcBef>
                <a:spcAft>
                  <a:spcPts val="0"/>
                </a:spcAft>
                <a:buFontTx/>
                <a:buChar char="-"/>
              </a:pPr>
              <a:r>
                <a:rPr lang="en-IN" sz="1200" i="0" u="none" strike="noStrike" cap="none" dirty="0">
                  <a:solidFill>
                    <a:srgbClr val="000000"/>
                  </a:solidFill>
                  <a:latin typeface="Lato"/>
                  <a:ea typeface="Lato"/>
                  <a:cs typeface="Lato"/>
                  <a:sym typeface="Lato"/>
                </a:rPr>
                <a:t>Location     </a:t>
              </a:r>
              <a:endParaRPr sz="1200" i="0" u="none" strike="noStrike" cap="none" dirty="0">
                <a:solidFill>
                  <a:srgbClr val="000000"/>
                </a:solidFill>
                <a:latin typeface="Lato"/>
                <a:ea typeface="Lato"/>
                <a:cs typeface="Lato"/>
                <a:sym typeface="Lato"/>
              </a:endParaRPr>
            </a:p>
          </p:txBody>
        </p:sp>
        <p:sp>
          <p:nvSpPr>
            <p:cNvPr id="157" name="Google Shape;157;p20"/>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6</a:t>
              </a:r>
              <a:endParaRPr dirty="0"/>
            </a:p>
            <a:p>
              <a:pPr marL="0" marR="0" lvl="0" indent="0" algn="l" rtl="0">
                <a:lnSpc>
                  <a:spcPct val="100000"/>
                </a:lnSpc>
                <a:spcBef>
                  <a:spcPts val="0"/>
                </a:spcBef>
                <a:spcAft>
                  <a:spcPts val="0"/>
                </a:spcAft>
                <a:buNone/>
              </a:pPr>
              <a:r>
                <a:rPr lang="en-IN" sz="1800" b="1" dirty="0">
                  <a:latin typeface="Lato"/>
                  <a:ea typeface="Lato"/>
                  <a:cs typeface="Lato"/>
                  <a:sym typeface="Lato"/>
                </a:rPr>
                <a:t>Competitor’s</a:t>
              </a:r>
              <a:r>
                <a:rPr lang="en-IN" sz="1100" dirty="0">
                  <a:latin typeface="Lato"/>
                  <a:ea typeface="Lato"/>
                  <a:cs typeface="Lato"/>
                  <a:sym typeface="Lato"/>
                </a:rPr>
                <a:t> </a:t>
              </a:r>
              <a:endParaRPr sz="1800" b="1" i="0" u="none" strike="noStrike" cap="none" dirty="0">
                <a:solidFill>
                  <a:srgbClr val="000000"/>
                </a:solidFill>
                <a:latin typeface="Lato"/>
                <a:ea typeface="Lato"/>
                <a:cs typeface="Lato"/>
                <a:sym typeface="Lato"/>
              </a:endParaRPr>
            </a:p>
          </p:txBody>
        </p:sp>
      </p:grpSp>
      <p:pic>
        <p:nvPicPr>
          <p:cNvPr id="9" name="Picture 8">
            <a:extLst>
              <a:ext uri="{FF2B5EF4-FFF2-40B4-BE49-F238E27FC236}">
                <a16:creationId xmlns:a16="http://schemas.microsoft.com/office/drawing/2014/main" id="{97F1E9B8-443D-DA89-E865-921CD92CA4A5}"/>
              </a:ext>
            </a:extLst>
          </p:cNvPr>
          <p:cNvPicPr>
            <a:picLocks noChangeAspect="1"/>
          </p:cNvPicPr>
          <p:nvPr/>
        </p:nvPicPr>
        <p:blipFill>
          <a:blip r:embed="rId3"/>
          <a:stretch>
            <a:fillRect/>
          </a:stretch>
        </p:blipFill>
        <p:spPr>
          <a:xfrm>
            <a:off x="4574196" y="2169140"/>
            <a:ext cx="6357964" cy="1820319"/>
          </a:xfrm>
          <a:prstGeom prst="rect">
            <a:avLst/>
          </a:prstGeom>
        </p:spPr>
      </p:pic>
      <p:pic>
        <p:nvPicPr>
          <p:cNvPr id="11" name="Picture 10">
            <a:extLst>
              <a:ext uri="{FF2B5EF4-FFF2-40B4-BE49-F238E27FC236}">
                <a16:creationId xmlns:a16="http://schemas.microsoft.com/office/drawing/2014/main" id="{F85CB1FA-4808-C9E7-45FE-29E825C6F613}"/>
              </a:ext>
            </a:extLst>
          </p:cNvPr>
          <p:cNvPicPr>
            <a:picLocks noChangeAspect="1"/>
          </p:cNvPicPr>
          <p:nvPr/>
        </p:nvPicPr>
        <p:blipFill>
          <a:blip r:embed="rId4"/>
          <a:stretch>
            <a:fillRect/>
          </a:stretch>
        </p:blipFill>
        <p:spPr>
          <a:xfrm>
            <a:off x="5387460" y="4654512"/>
            <a:ext cx="3380620" cy="1717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64" name="Google Shape;164;p21"/>
          <p:cNvGrpSpPr/>
          <p:nvPr/>
        </p:nvGrpSpPr>
        <p:grpSpPr>
          <a:xfrm>
            <a:off x="514662" y="1991496"/>
            <a:ext cx="11162675" cy="4501379"/>
            <a:chOff x="589265" y="4632481"/>
            <a:chExt cx="2041200" cy="224624"/>
          </a:xfrm>
        </p:grpSpPr>
        <p:sp>
          <p:nvSpPr>
            <p:cNvPr id="165" name="Google Shape;165;p21"/>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7</a:t>
              </a:r>
              <a:endParaRPr dirty="0"/>
            </a:p>
            <a:p>
              <a:pPr lvl="0"/>
              <a:r>
                <a:rPr lang="en-IN" sz="1800" b="1" dirty="0">
                  <a:latin typeface="Lato"/>
                  <a:ea typeface="Lato"/>
                  <a:cs typeface="Lato"/>
                  <a:sym typeface="Lato"/>
                </a:rPr>
                <a:t>Competitor’s –</a:t>
              </a:r>
            </a:p>
            <a:p>
              <a:pPr lvl="0"/>
              <a:r>
                <a:rPr lang="en-IN" sz="1500" i="0" u="none" strike="noStrike" cap="none" dirty="0">
                  <a:solidFill>
                    <a:srgbClr val="000000"/>
                  </a:solidFill>
                  <a:latin typeface="Lato"/>
                  <a:ea typeface="Lato"/>
                  <a:cs typeface="Lato"/>
                  <a:sym typeface="Lato"/>
                </a:rPr>
                <a:t>Product Comparison</a:t>
              </a:r>
            </a:p>
            <a:p>
              <a:pPr lvl="0"/>
              <a:r>
                <a:rPr lang="en-IN" sz="1500" dirty="0">
                  <a:latin typeface="Lato"/>
                  <a:ea typeface="Lato"/>
                  <a:cs typeface="Lato"/>
                  <a:sym typeface="Lato"/>
                </a:rPr>
                <a:t>Pricing </a:t>
              </a:r>
            </a:p>
            <a:p>
              <a:pPr lvl="0"/>
              <a:r>
                <a:rPr lang="en-IN" sz="1500" i="0" u="none" strike="noStrike" cap="none" dirty="0">
                  <a:solidFill>
                    <a:srgbClr val="000000"/>
                  </a:solidFill>
                  <a:latin typeface="Lato"/>
                  <a:ea typeface="Lato"/>
                  <a:cs typeface="Lato"/>
                  <a:sym typeface="Lato"/>
                </a:rPr>
                <a:t>Service</a:t>
              </a:r>
            </a:p>
            <a:p>
              <a:pPr lvl="0"/>
              <a:r>
                <a:rPr lang="en-IN" sz="1500" dirty="0">
                  <a:latin typeface="Lato"/>
                  <a:ea typeface="Lato"/>
                  <a:cs typeface="Lato"/>
                  <a:sym typeface="Lato"/>
                </a:rPr>
                <a:t>Technology</a:t>
              </a:r>
              <a:endParaRPr sz="1500" i="0" u="none" strike="noStrike" cap="none" dirty="0">
                <a:solidFill>
                  <a:srgbClr val="000000"/>
                </a:solidFill>
                <a:latin typeface="Lato"/>
                <a:ea typeface="Lato"/>
                <a:cs typeface="Lato"/>
                <a:sym typeface="Lato"/>
              </a:endParaRPr>
            </a:p>
          </p:txBody>
        </p:sp>
        <p:sp>
          <p:nvSpPr>
            <p:cNvPr id="166" name="Google Shape;166;p21"/>
            <p:cNvSpPr txBox="1"/>
            <p:nvPr/>
          </p:nvSpPr>
          <p:spPr>
            <a:xfrm>
              <a:off x="589265" y="4749319"/>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8</a:t>
              </a:r>
              <a:endParaRPr dirty="0"/>
            </a:p>
            <a:p>
              <a:pPr marL="0" marR="0" lvl="0" indent="0" algn="l" rtl="0">
                <a:lnSpc>
                  <a:spcPct val="100000"/>
                </a:lnSpc>
                <a:spcBef>
                  <a:spcPts val="0"/>
                </a:spcBef>
                <a:spcAft>
                  <a:spcPts val="0"/>
                </a:spcAft>
                <a:buNone/>
              </a:pPr>
              <a:r>
                <a:rPr lang="en-IN" sz="1800" b="1" dirty="0">
                  <a:latin typeface="Lato"/>
                  <a:ea typeface="Lato"/>
                  <a:cs typeface="Lato"/>
                  <a:sym typeface="Lato"/>
                </a:rPr>
                <a:t>Collaboration</a:t>
              </a:r>
              <a:endParaRPr sz="3200" b="1" i="0" u="none" strike="noStrike" cap="none" dirty="0">
                <a:solidFill>
                  <a:srgbClr val="000000"/>
                </a:solidFill>
                <a:latin typeface="Lato"/>
                <a:ea typeface="Lato"/>
                <a:cs typeface="Lato"/>
                <a:sym typeface="Lato"/>
              </a:endParaRPr>
            </a:p>
          </p:txBody>
        </p:sp>
      </p:grpSp>
      <p:pic>
        <p:nvPicPr>
          <p:cNvPr id="3" name="Picture 2">
            <a:extLst>
              <a:ext uri="{FF2B5EF4-FFF2-40B4-BE49-F238E27FC236}">
                <a16:creationId xmlns:a16="http://schemas.microsoft.com/office/drawing/2014/main" id="{E5C3EF70-925C-99FF-7520-90C7D48A8149}"/>
              </a:ext>
            </a:extLst>
          </p:cNvPr>
          <p:cNvPicPr>
            <a:picLocks noChangeAspect="1"/>
          </p:cNvPicPr>
          <p:nvPr/>
        </p:nvPicPr>
        <p:blipFill>
          <a:blip r:embed="rId3"/>
          <a:stretch>
            <a:fillRect/>
          </a:stretch>
        </p:blipFill>
        <p:spPr>
          <a:xfrm>
            <a:off x="3093339" y="2190861"/>
            <a:ext cx="6690742" cy="1797198"/>
          </a:xfrm>
          <a:prstGeom prst="rect">
            <a:avLst/>
          </a:prstGeom>
        </p:spPr>
      </p:pic>
      <p:pic>
        <p:nvPicPr>
          <p:cNvPr id="5" name="Picture 4">
            <a:extLst>
              <a:ext uri="{FF2B5EF4-FFF2-40B4-BE49-F238E27FC236}">
                <a16:creationId xmlns:a16="http://schemas.microsoft.com/office/drawing/2014/main" id="{4948F9C0-56F0-425A-7470-93B45A7AB32B}"/>
              </a:ext>
            </a:extLst>
          </p:cNvPr>
          <p:cNvPicPr>
            <a:picLocks noChangeAspect="1"/>
          </p:cNvPicPr>
          <p:nvPr/>
        </p:nvPicPr>
        <p:blipFill>
          <a:blip r:embed="rId4"/>
          <a:stretch>
            <a:fillRect/>
          </a:stretch>
        </p:blipFill>
        <p:spPr>
          <a:xfrm>
            <a:off x="4049860" y="4571962"/>
            <a:ext cx="3909399" cy="16818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73" name="Google Shape;173;p22"/>
          <p:cNvGrpSpPr/>
          <p:nvPr/>
        </p:nvGrpSpPr>
        <p:grpSpPr>
          <a:xfrm>
            <a:off x="514664" y="2009465"/>
            <a:ext cx="11162675" cy="4593842"/>
            <a:chOff x="589265" y="4632481"/>
            <a:chExt cx="2041200" cy="229238"/>
          </a:xfrm>
        </p:grpSpPr>
        <p:sp>
          <p:nvSpPr>
            <p:cNvPr id="174" name="Google Shape;174;p22"/>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9</a:t>
              </a:r>
              <a:endParaRPr dirty="0"/>
            </a:p>
            <a:p>
              <a:pPr marL="0" marR="0" lvl="0" indent="0" algn="l" rtl="0">
                <a:lnSpc>
                  <a:spcPct val="100000"/>
                </a:lnSpc>
                <a:spcBef>
                  <a:spcPts val="0"/>
                </a:spcBef>
                <a:spcAft>
                  <a:spcPts val="0"/>
                </a:spcAft>
                <a:buNone/>
              </a:pPr>
              <a:r>
                <a:rPr lang="en-IN" sz="1800" b="1" i="0" u="none" strike="noStrike" cap="none" dirty="0">
                  <a:solidFill>
                    <a:srgbClr val="000000"/>
                  </a:solidFill>
                  <a:latin typeface="Lato"/>
                  <a:ea typeface="Lato"/>
                  <a:cs typeface="Lato"/>
                  <a:sym typeface="Lato"/>
                </a:rPr>
                <a:t>Collaboration</a:t>
              </a: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Distributers</a:t>
              </a:r>
            </a:p>
            <a:p>
              <a:pPr marL="0" marR="0" lvl="0" indent="0" algn="l" rtl="0">
                <a:lnSpc>
                  <a:spcPct val="100000"/>
                </a:lnSpc>
                <a:spcBef>
                  <a:spcPts val="0"/>
                </a:spcBef>
                <a:spcAft>
                  <a:spcPts val="0"/>
                </a:spcAft>
                <a:buNone/>
              </a:pPr>
              <a:r>
                <a:rPr lang="en-US" sz="1100" b="0" i="0" u="none" strike="noStrike" cap="none" dirty="0">
                  <a:solidFill>
                    <a:srgbClr val="000000"/>
                  </a:solidFill>
                  <a:latin typeface="Lato"/>
                  <a:ea typeface="Lato"/>
                  <a:cs typeface="Lato"/>
                  <a:sym typeface="Lato"/>
                </a:rPr>
                <a:t>Vendors</a:t>
              </a:r>
              <a:endParaRPr sz="1100" b="0" i="0" u="none" strike="noStrike" cap="none" dirty="0">
                <a:solidFill>
                  <a:srgbClr val="000000"/>
                </a:solidFill>
                <a:latin typeface="Lato"/>
                <a:ea typeface="Lato"/>
                <a:cs typeface="Lato"/>
                <a:sym typeface="Lato"/>
              </a:endParaRPr>
            </a:p>
          </p:txBody>
        </p:sp>
        <p:sp>
          <p:nvSpPr>
            <p:cNvPr id="175" name="Google Shape;175;p22"/>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10</a:t>
              </a: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IN" sz="1100" b="0" i="0" u="none" strike="noStrike" cap="none" dirty="0">
                  <a:solidFill>
                    <a:srgbClr val="000000"/>
                  </a:solidFill>
                  <a:latin typeface="Lato"/>
                  <a:ea typeface="Lato"/>
                  <a:cs typeface="Lato"/>
                  <a:sym typeface="Lato"/>
                </a:rPr>
                <a:t>Context</a:t>
              </a:r>
              <a:endParaRPr sz="1800" b="1" dirty="0">
                <a:latin typeface="Lato"/>
                <a:ea typeface="Lato"/>
                <a:cs typeface="Lato"/>
                <a:sym typeface="Lato"/>
              </a:endParaRPr>
            </a:p>
          </p:txBody>
        </p:sp>
      </p:grpSp>
      <p:pic>
        <p:nvPicPr>
          <p:cNvPr id="3" name="Picture 2">
            <a:extLst>
              <a:ext uri="{FF2B5EF4-FFF2-40B4-BE49-F238E27FC236}">
                <a16:creationId xmlns:a16="http://schemas.microsoft.com/office/drawing/2014/main" id="{D205CEA6-FC93-8837-13AA-77D1D0DB494F}"/>
              </a:ext>
            </a:extLst>
          </p:cNvPr>
          <p:cNvPicPr>
            <a:picLocks noChangeAspect="1"/>
          </p:cNvPicPr>
          <p:nvPr/>
        </p:nvPicPr>
        <p:blipFill>
          <a:blip r:embed="rId3"/>
          <a:stretch>
            <a:fillRect/>
          </a:stretch>
        </p:blipFill>
        <p:spPr>
          <a:xfrm>
            <a:off x="3314253" y="2218176"/>
            <a:ext cx="8237667" cy="1742567"/>
          </a:xfrm>
          <a:prstGeom prst="rect">
            <a:avLst/>
          </a:prstGeom>
        </p:spPr>
      </p:pic>
      <p:pic>
        <p:nvPicPr>
          <p:cNvPr id="5" name="Picture 4">
            <a:extLst>
              <a:ext uri="{FF2B5EF4-FFF2-40B4-BE49-F238E27FC236}">
                <a16:creationId xmlns:a16="http://schemas.microsoft.com/office/drawing/2014/main" id="{B1B97DB2-19D8-2CBF-6646-7903183F8AF0}"/>
              </a:ext>
            </a:extLst>
          </p:cNvPr>
          <p:cNvPicPr>
            <a:picLocks noChangeAspect="1"/>
          </p:cNvPicPr>
          <p:nvPr/>
        </p:nvPicPr>
        <p:blipFill>
          <a:blip r:embed="rId4"/>
          <a:stretch>
            <a:fillRect/>
          </a:stretch>
        </p:blipFill>
        <p:spPr>
          <a:xfrm>
            <a:off x="3210214" y="4875556"/>
            <a:ext cx="7986452" cy="12955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82" name="Google Shape;182;p23"/>
          <p:cNvSpPr txBox="1"/>
          <p:nvPr/>
        </p:nvSpPr>
        <p:spPr>
          <a:xfrm>
            <a:off x="563498" y="1806833"/>
            <a:ext cx="2404555" cy="446276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a:t>
            </a:r>
            <a:endParaRPr dirty="0"/>
          </a:p>
          <a:p>
            <a:pPr marL="0" marR="0" lvl="0" indent="0" algn="l" rtl="0">
              <a:lnSpc>
                <a:spcPct val="100000"/>
              </a:lnSpc>
              <a:spcBef>
                <a:spcPts val="0"/>
              </a:spcBef>
              <a:spcAft>
                <a:spcPts val="0"/>
              </a:spcAft>
              <a:buNone/>
            </a:pPr>
            <a:endParaRPr lang="en-US" dirty="0">
              <a:latin typeface="Lato"/>
              <a:ea typeface="Lato"/>
              <a:cs typeface="Lato"/>
              <a:sym typeface="Lato"/>
            </a:endParaRPr>
          </a:p>
          <a:p>
            <a:r>
              <a:rPr lang="en-US" dirty="0"/>
              <a:t>These are the factors affecting the sales pipeline.</a:t>
            </a:r>
            <a:br>
              <a:rPr lang="en-US" dirty="0"/>
            </a:br>
            <a:r>
              <a:rPr lang="en-US" dirty="0"/>
              <a:t>Example variables you can use:</a:t>
            </a:r>
          </a:p>
          <a:p>
            <a:pPr marL="285750" indent="-285750">
              <a:buFont typeface="Arial" panose="020B0604020202020204" pitchFamily="34" charset="0"/>
              <a:buChar char="•"/>
            </a:pPr>
            <a:r>
              <a:rPr lang="en-US" dirty="0"/>
              <a:t>Lead Source</a:t>
            </a:r>
          </a:p>
          <a:p>
            <a:pPr marL="285750" indent="-285750">
              <a:buFont typeface="Arial" panose="020B0604020202020204" pitchFamily="34" charset="0"/>
              <a:buChar char="•"/>
            </a:pPr>
            <a:r>
              <a:rPr lang="en-US" dirty="0"/>
              <a:t>Product Features</a:t>
            </a:r>
          </a:p>
          <a:p>
            <a:pPr marL="285750" indent="-285750">
              <a:buFont typeface="Arial" panose="020B0604020202020204" pitchFamily="34" charset="0"/>
              <a:buChar char="•"/>
            </a:pPr>
            <a:r>
              <a:rPr lang="en-US" dirty="0"/>
              <a:t>Pricing</a:t>
            </a:r>
          </a:p>
          <a:p>
            <a:pPr marL="285750" indent="-285750">
              <a:buFont typeface="Arial" panose="020B0604020202020204" pitchFamily="34" charset="0"/>
              <a:buChar char="•"/>
            </a:pPr>
            <a:r>
              <a:rPr lang="en-US" dirty="0"/>
              <a:t>Sales Team Performance</a:t>
            </a:r>
          </a:p>
          <a:p>
            <a:pPr marL="285750" indent="-285750">
              <a:buFont typeface="Arial" panose="020B0604020202020204" pitchFamily="34" charset="0"/>
              <a:buChar char="•"/>
            </a:pPr>
            <a:r>
              <a:rPr lang="en-US" dirty="0"/>
              <a:t>Delivery Channels</a:t>
            </a:r>
          </a:p>
          <a:p>
            <a:pPr marL="285750" indent="-285750">
              <a:buFont typeface="Arial" panose="020B0604020202020204" pitchFamily="34" charset="0"/>
              <a:buChar char="•"/>
            </a:pPr>
            <a:r>
              <a:rPr lang="en-US" dirty="0"/>
              <a:t>Competitor Strength</a:t>
            </a:r>
          </a:p>
          <a:p>
            <a:pPr marL="285750" indent="-285750">
              <a:buFont typeface="Arial" panose="020B0604020202020204" pitchFamily="34" charset="0"/>
              <a:buChar char="•"/>
            </a:pPr>
            <a:r>
              <a:rPr lang="en-US" dirty="0"/>
              <a:t>Marketing Quality</a:t>
            </a:r>
          </a:p>
          <a:p>
            <a:pPr marL="285750" indent="-285750">
              <a:buFont typeface="Arial" panose="020B0604020202020204" pitchFamily="34" charset="0"/>
              <a:buChar char="•"/>
            </a:pPr>
            <a:r>
              <a:rPr lang="en-US" dirty="0"/>
              <a:t>Customer Fit</a:t>
            </a: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sp>
        <p:nvSpPr>
          <p:cNvPr id="183" name="Google Shape;183;p23"/>
          <p:cNvSpPr txBox="1"/>
          <p:nvPr/>
        </p:nvSpPr>
        <p:spPr>
          <a:xfrm>
            <a:off x="3287056" y="1806833"/>
            <a:ext cx="5542151" cy="446276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Insights if any</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sz="1400" b="0" i="0" u="none" strike="noStrike" cap="none" dirty="0">
                <a:solidFill>
                  <a:srgbClr val="000000"/>
                </a:solidFill>
                <a:latin typeface="Lato"/>
                <a:ea typeface="Lato"/>
                <a:cs typeface="Lato"/>
                <a:sym typeface="Lato"/>
              </a:rPr>
              <a:t>Most leads are coming from </a:t>
            </a:r>
            <a:r>
              <a:rPr lang="en-US" sz="1400" b="0" i="0" u="none" strike="noStrike" cap="none" dirty="0" err="1">
                <a:solidFill>
                  <a:srgbClr val="000000"/>
                </a:solidFill>
                <a:latin typeface="Lato"/>
                <a:ea typeface="Lato"/>
                <a:cs typeface="Lato"/>
                <a:sym typeface="Lato"/>
              </a:rPr>
              <a:t>telesales</a:t>
            </a:r>
            <a:r>
              <a:rPr lang="en-US" sz="1400" b="0" i="0" u="none" strike="noStrike" cap="none" dirty="0">
                <a:solidFill>
                  <a:srgbClr val="000000"/>
                </a:solidFill>
                <a:latin typeface="Lato"/>
                <a:ea typeface="Lato"/>
                <a:cs typeface="Lato"/>
                <a:sym typeface="Lato"/>
              </a:rPr>
              <a:t> and social channels.</a:t>
            </a:r>
          </a:p>
          <a:p>
            <a:pPr marL="285750" marR="0" lvl="0" indent="-285750" algn="l" rtl="0">
              <a:lnSpc>
                <a:spcPct val="100000"/>
              </a:lnSpc>
              <a:spcBef>
                <a:spcPts val="0"/>
              </a:spcBef>
              <a:spcAft>
                <a:spcPts val="0"/>
              </a:spcAft>
              <a:buFont typeface="Arial" panose="020B0604020202020204" pitchFamily="34" charset="0"/>
              <a:buChar char="•"/>
            </a:pPr>
            <a:r>
              <a:rPr lang="en-US" sz="1400" b="0" i="0" u="none" strike="noStrike" cap="none" dirty="0">
                <a:solidFill>
                  <a:srgbClr val="000000"/>
                </a:solidFill>
                <a:latin typeface="Lato"/>
                <a:ea typeface="Lato"/>
                <a:cs typeface="Lato"/>
                <a:sym typeface="Lato"/>
              </a:rPr>
              <a:t>These channels are giving low intent leads.</a:t>
            </a:r>
          </a:p>
          <a:p>
            <a:pPr marL="285750" marR="0" lvl="0" indent="-285750" algn="l" rtl="0">
              <a:lnSpc>
                <a:spcPct val="100000"/>
              </a:lnSpc>
              <a:spcBef>
                <a:spcPts val="0"/>
              </a:spcBef>
              <a:spcAft>
                <a:spcPts val="0"/>
              </a:spcAft>
              <a:buFont typeface="Arial" panose="020B0604020202020204" pitchFamily="34" charset="0"/>
              <a:buChar char="•"/>
            </a:pPr>
            <a:r>
              <a:rPr lang="en-US" sz="1400" b="0" i="0" u="none" strike="noStrike" cap="none" dirty="0">
                <a:solidFill>
                  <a:srgbClr val="000000"/>
                </a:solidFill>
                <a:latin typeface="Lato"/>
                <a:ea typeface="Lato"/>
                <a:cs typeface="Lato"/>
                <a:sym typeface="Lato"/>
              </a:rPr>
              <a:t>Conversion dropped from last year’s 40% to 25%.</a:t>
            </a:r>
          </a:p>
          <a:p>
            <a:pPr marL="285750" marR="0" lvl="0" indent="-285750" algn="l" rtl="0">
              <a:lnSpc>
                <a:spcPct val="100000"/>
              </a:lnSpc>
              <a:spcBef>
                <a:spcPts val="0"/>
              </a:spcBef>
              <a:spcAft>
                <a:spcPts val="0"/>
              </a:spcAft>
              <a:buFont typeface="Arial" panose="020B0604020202020204" pitchFamily="34" charset="0"/>
              <a:buChar char="•"/>
            </a:pPr>
            <a:r>
              <a:rPr lang="en-US" sz="1400" b="0" i="0" u="none" strike="noStrike" cap="none" dirty="0">
                <a:solidFill>
                  <a:srgbClr val="000000"/>
                </a:solidFill>
                <a:latin typeface="Lato"/>
                <a:ea typeface="Lato"/>
                <a:cs typeface="Lato"/>
                <a:sym typeface="Lato"/>
              </a:rPr>
              <a:t>High-quality channels like referrals and partnerships are not giving enough leads.</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sp>
        <p:nvSpPr>
          <p:cNvPr id="184" name="Google Shape;184;p23"/>
          <p:cNvSpPr txBox="1"/>
          <p:nvPr/>
        </p:nvSpPr>
        <p:spPr>
          <a:xfrm>
            <a:off x="9148210" y="1806833"/>
            <a:ext cx="2794416" cy="446276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Pattern of Insight</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285750" marR="0" lvl="0" indent="-285750" algn="l" rtl="0">
              <a:lnSpc>
                <a:spcPct val="100000"/>
              </a:lnSpc>
              <a:spcBef>
                <a:spcPts val="0"/>
              </a:spcBef>
              <a:spcAft>
                <a:spcPts val="0"/>
              </a:spcAft>
              <a:buFont typeface="Arial" panose="020B0604020202020204" pitchFamily="34" charset="0"/>
              <a:buChar char="•"/>
            </a:pPr>
            <a:r>
              <a:rPr lang="en-US" sz="1400" b="0" i="0" u="none" strike="noStrike" cap="none" dirty="0">
                <a:solidFill>
                  <a:srgbClr val="000000"/>
                </a:solidFill>
                <a:latin typeface="Lato"/>
                <a:ea typeface="Lato"/>
                <a:cs typeface="Lato"/>
                <a:sym typeface="Lato"/>
              </a:rPr>
              <a:t>Lead quality is the major driver behind the drop in conversions.</a:t>
            </a:r>
          </a:p>
          <a:p>
            <a:pPr marL="285750" marR="0" lvl="0" indent="-285750" algn="l" rtl="0">
              <a:lnSpc>
                <a:spcPct val="100000"/>
              </a:lnSpc>
              <a:spcBef>
                <a:spcPts val="0"/>
              </a:spcBef>
              <a:spcAft>
                <a:spcPts val="0"/>
              </a:spcAft>
              <a:buFont typeface="Arial" panose="020B0604020202020204" pitchFamily="34" charset="0"/>
              <a:buChar char="•"/>
            </a:pPr>
            <a:r>
              <a:rPr lang="en-US" sz="1400" b="0" i="0" u="none" strike="noStrike" cap="none" dirty="0">
                <a:solidFill>
                  <a:srgbClr val="000000"/>
                </a:solidFill>
                <a:latin typeface="Lato"/>
                <a:ea typeface="Lato"/>
                <a:cs typeface="Lato"/>
                <a:sym typeface="Lato"/>
              </a:rPr>
              <a:t>Low-intent channels dominate the pipeline, so the funnel is weak from the top.</a:t>
            </a:r>
          </a:p>
          <a:p>
            <a:pPr marL="285750" marR="0" lvl="0" indent="-285750" algn="l" rtl="0">
              <a:lnSpc>
                <a:spcPct val="100000"/>
              </a:lnSpc>
              <a:spcBef>
                <a:spcPts val="0"/>
              </a:spcBef>
              <a:spcAft>
                <a:spcPts val="0"/>
              </a:spcAft>
              <a:buFont typeface="Arial" panose="020B0604020202020204" pitchFamily="34" charset="0"/>
              <a:buChar char="•"/>
            </a:pPr>
            <a:r>
              <a:rPr lang="en-US" sz="1400" b="0" i="0" u="none" strike="noStrike" cap="none" dirty="0">
                <a:solidFill>
                  <a:srgbClr val="000000"/>
                </a:solidFill>
                <a:latin typeface="Lato"/>
                <a:ea typeface="Lato"/>
                <a:cs typeface="Lato"/>
                <a:sym typeface="Lato"/>
              </a:rPr>
              <a:t>Earlier high-intent channels are shrinking, causing revenue leakage.</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91" name="Google Shape;191;p24"/>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under  consideration:</a:t>
            </a:r>
            <a:endParaRPr dirty="0"/>
          </a:p>
          <a:p>
            <a:pPr lvl="0"/>
            <a:r>
              <a:rPr lang="en-IN" sz="1400" b="0" i="0" u="none" strike="noStrike" cap="none" dirty="0">
                <a:solidFill>
                  <a:srgbClr val="000000"/>
                </a:solidFill>
                <a:latin typeface="Lato"/>
                <a:ea typeface="Lato"/>
                <a:cs typeface="Lato"/>
                <a:sym typeface="Lato"/>
              </a:rPr>
              <a:t>Used variables</a:t>
            </a:r>
            <a:endParaRPr lang="en-US" dirty="0"/>
          </a:p>
          <a:p>
            <a:pPr marL="285750" lvl="0" indent="-285750">
              <a:buFont typeface="Arial" panose="020B0604020202020204" pitchFamily="34" charset="0"/>
              <a:buChar char="•"/>
            </a:pPr>
            <a:r>
              <a:rPr lang="en-US" dirty="0"/>
              <a:t>Opportunity Status </a:t>
            </a:r>
            <a:endParaRPr lang="en-IN"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IN" dirty="0">
              <a:latin typeface="Lato"/>
              <a:ea typeface="Lato"/>
              <a:cs typeface="Lato"/>
              <a:sym typeface="Lato"/>
            </a:endParaRPr>
          </a:p>
          <a:p>
            <a:pPr marL="0" marR="0" lvl="0" indent="0" algn="l" rtl="0">
              <a:lnSpc>
                <a:spcPct val="100000"/>
              </a:lnSpc>
              <a:spcBef>
                <a:spcPts val="0"/>
              </a:spcBef>
              <a:spcAft>
                <a:spcPts val="0"/>
              </a:spcAft>
              <a:buNone/>
            </a:pPr>
            <a:r>
              <a:rPr lang="en-IN" sz="1400" b="0" i="0" u="none" strike="noStrike" cap="none" dirty="0">
                <a:solidFill>
                  <a:srgbClr val="000000"/>
                </a:solidFill>
                <a:latin typeface="Lato"/>
                <a:ea typeface="Lato"/>
                <a:cs typeface="Lato"/>
                <a:sym typeface="Lato"/>
              </a:rPr>
              <a:t>We converted only 23% Leads rest of 77% lost </a:t>
            </a:r>
            <a:br>
              <a:rPr lang="en-IN" sz="1400" b="0" i="0" u="none" strike="noStrike" cap="none" dirty="0">
                <a:solidFill>
                  <a:srgbClr val="000000"/>
                </a:solidFill>
                <a:latin typeface="Lato"/>
                <a:ea typeface="Lato"/>
                <a:cs typeface="Lato"/>
                <a:sym typeface="Lato"/>
              </a:rPr>
            </a:b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graphicFrame>
        <p:nvGraphicFramePr>
          <p:cNvPr id="2" name="Chart 1">
            <a:extLst>
              <a:ext uri="{FF2B5EF4-FFF2-40B4-BE49-F238E27FC236}">
                <a16:creationId xmlns:a16="http://schemas.microsoft.com/office/drawing/2014/main" id="{6F6E2C07-9E91-BDA0-1103-58A7D1FEE3F8}"/>
              </a:ext>
            </a:extLst>
          </p:cNvPr>
          <p:cNvGraphicFramePr>
            <a:graphicFrameLocks/>
          </p:cNvGraphicFramePr>
          <p:nvPr>
            <p:extLst>
              <p:ext uri="{D42A27DB-BD31-4B8C-83A1-F6EECF244321}">
                <p14:modId xmlns:p14="http://schemas.microsoft.com/office/powerpoint/2010/main" val="607142568"/>
              </p:ext>
            </p:extLst>
          </p:nvPr>
        </p:nvGraphicFramePr>
        <p:xfrm>
          <a:off x="5821680" y="2306320"/>
          <a:ext cx="5532120" cy="3799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3834D9BF-9514-FCA2-A194-1B46E42232DF}"/>
              </a:ext>
            </a:extLst>
          </p:cNvPr>
          <p:cNvGraphicFramePr>
            <a:graphicFrameLocks/>
          </p:cNvGraphicFramePr>
          <p:nvPr>
            <p:extLst>
              <p:ext uri="{D42A27DB-BD31-4B8C-83A1-F6EECF244321}">
                <p14:modId xmlns:p14="http://schemas.microsoft.com/office/powerpoint/2010/main" val="1897340846"/>
              </p:ext>
            </p:extLst>
          </p:nvPr>
        </p:nvGraphicFramePr>
        <p:xfrm>
          <a:off x="5603074" y="2091559"/>
          <a:ext cx="5621974" cy="422515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4EC7CCF9-1758-A452-75E8-F17FD2C811F9}"/>
              </a:ext>
            </a:extLst>
          </p:cNvPr>
          <p:cNvGraphicFramePr>
            <a:graphicFrameLocks/>
          </p:cNvGraphicFramePr>
          <p:nvPr>
            <p:extLst>
              <p:ext uri="{D42A27DB-BD31-4B8C-83A1-F6EECF244321}">
                <p14:modId xmlns:p14="http://schemas.microsoft.com/office/powerpoint/2010/main" val="1167001131"/>
              </p:ext>
            </p:extLst>
          </p:nvPr>
        </p:nvGraphicFramePr>
        <p:xfrm>
          <a:off x="5991069" y="2259710"/>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98" name="Google Shape;198;p25"/>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under  consideration: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lvl="0"/>
            <a:r>
              <a:rPr lang="en-IN" sz="1400" b="1" i="0" u="none" strike="noStrike" cap="none" dirty="0">
                <a:solidFill>
                  <a:srgbClr val="000000"/>
                </a:solidFill>
                <a:latin typeface="Lato"/>
                <a:ea typeface="Lato"/>
                <a:cs typeface="Lato"/>
                <a:sym typeface="Lato"/>
              </a:rPr>
              <a:t>Used Variables</a:t>
            </a:r>
          </a:p>
          <a:p>
            <a:pPr marL="0" marR="0" lvl="0" indent="0" algn="l" rtl="0">
              <a:lnSpc>
                <a:spcPct val="100000"/>
              </a:lnSpc>
              <a:spcBef>
                <a:spcPts val="0"/>
              </a:spcBef>
              <a:spcAft>
                <a:spcPts val="0"/>
              </a:spcAft>
              <a:buNone/>
            </a:pPr>
            <a:r>
              <a:rPr lang="en-IN" sz="1400" b="0" i="0" u="none" strike="noStrike" cap="none" dirty="0">
                <a:solidFill>
                  <a:srgbClr val="000000"/>
                </a:solidFill>
                <a:latin typeface="Lato"/>
                <a:ea typeface="Lato"/>
                <a:cs typeface="Lato"/>
                <a:sym typeface="Lato"/>
              </a:rPr>
              <a:t>B2B sales Medium</a:t>
            </a:r>
          </a:p>
          <a:p>
            <a:pPr marL="0" marR="0" lvl="0" indent="0" algn="l" rtl="0">
              <a:lnSpc>
                <a:spcPct val="100000"/>
              </a:lnSpc>
              <a:spcBef>
                <a:spcPts val="0"/>
              </a:spcBef>
              <a:spcAft>
                <a:spcPts val="0"/>
              </a:spcAft>
              <a:buNone/>
            </a:pPr>
            <a:r>
              <a:rPr lang="en-IN" dirty="0">
                <a:latin typeface="Lato"/>
                <a:ea typeface="Lato"/>
                <a:cs typeface="Lato"/>
                <a:sym typeface="Lato"/>
              </a:rPr>
              <a:t>Opportunity Status (Won)</a:t>
            </a:r>
            <a:br>
              <a:rPr lang="en-IN" dirty="0">
                <a:latin typeface="Lato"/>
                <a:ea typeface="Lato"/>
                <a:cs typeface="Lato"/>
                <a:sym typeface="Lato"/>
              </a:rPr>
            </a:br>
            <a:br>
              <a:rPr lang="en-IN" dirty="0">
                <a:latin typeface="Lato"/>
                <a:ea typeface="Lato"/>
                <a:cs typeface="Lato"/>
                <a:sym typeface="Lato"/>
              </a:rPr>
            </a:b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graphicFrame>
        <p:nvGraphicFramePr>
          <p:cNvPr id="6" name="Chart 5">
            <a:extLst>
              <a:ext uri="{FF2B5EF4-FFF2-40B4-BE49-F238E27FC236}">
                <a16:creationId xmlns:a16="http://schemas.microsoft.com/office/drawing/2014/main" id="{6F1D524D-8148-E07B-B138-58CFE370DEB5}"/>
              </a:ext>
            </a:extLst>
          </p:cNvPr>
          <p:cNvGraphicFramePr>
            <a:graphicFrameLocks/>
          </p:cNvGraphicFramePr>
          <p:nvPr>
            <p:extLst>
              <p:ext uri="{D42A27DB-BD31-4B8C-83A1-F6EECF244321}">
                <p14:modId xmlns:p14="http://schemas.microsoft.com/office/powerpoint/2010/main" val="4075972602"/>
              </p:ext>
            </p:extLst>
          </p:nvPr>
        </p:nvGraphicFramePr>
        <p:xfrm>
          <a:off x="6185338" y="2498834"/>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205" name="Google Shape;205;p26"/>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under  consideration: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r>
              <a:rPr lang="en-IN" sz="1600" b="1" dirty="0">
                <a:latin typeface="Lato"/>
                <a:ea typeface="Lato"/>
                <a:cs typeface="Lato"/>
                <a:sym typeface="Lato"/>
              </a:rPr>
              <a:t>Used Variables</a:t>
            </a:r>
          </a:p>
          <a:p>
            <a:r>
              <a:rPr lang="en-IN" sz="1600" dirty="0">
                <a:latin typeface="Lato"/>
                <a:ea typeface="Lato"/>
                <a:cs typeface="Lato"/>
                <a:sym typeface="Lato"/>
              </a:rPr>
              <a:t>Opportunity size</a:t>
            </a:r>
            <a:br>
              <a:rPr lang="en-IN" dirty="0"/>
            </a:br>
            <a:r>
              <a:rPr lang="en-IN" dirty="0"/>
              <a:t>Technology Primary</a:t>
            </a:r>
          </a:p>
          <a:p>
            <a:endParaRPr lang="en-IN" dirty="0"/>
          </a:p>
          <a:p>
            <a:pPr marL="285750" indent="-285750">
              <a:buFont typeface="Arial" panose="020B0604020202020204" pitchFamily="34" charset="0"/>
              <a:buChar char="•"/>
            </a:pPr>
            <a:r>
              <a:rPr lang="en-US" dirty="0"/>
              <a:t>We have the highest opportunity in ERP Implementation at</a:t>
            </a:r>
          </a:p>
          <a:p>
            <a:r>
              <a:rPr lang="en-US" dirty="0"/>
              <a:t>      61.8 percent, followed by Technical Business Solutions</a:t>
            </a:r>
          </a:p>
          <a:p>
            <a:r>
              <a:rPr lang="en-US" dirty="0"/>
              <a:t>      at 37 percent.</a:t>
            </a:r>
          </a:p>
          <a:p>
            <a:pPr marL="285750" indent="-285750">
              <a:buFont typeface="Arial" panose="020B0604020202020204" pitchFamily="34" charset="0"/>
              <a:buChar char="•"/>
            </a:pPr>
            <a:r>
              <a:rPr lang="en-US" dirty="0"/>
              <a:t>The lowest opportunity area is at 0.3 percent.</a:t>
            </a:r>
          </a:p>
          <a:p>
            <a:endParaRPr lang="en-IN" sz="1400" i="0" u="none" strike="noStrike" cap="none" dirty="0">
              <a:solidFill>
                <a:srgbClr val="000000"/>
              </a:solidFill>
              <a:latin typeface="Lato"/>
              <a:ea typeface="Lato"/>
              <a:cs typeface="Lato"/>
              <a:sym typeface="Lato"/>
            </a:endParaRPr>
          </a:p>
          <a:p>
            <a:endParaRPr sz="140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graphicFrame>
        <p:nvGraphicFramePr>
          <p:cNvPr id="5" name="Chart 4">
            <a:extLst>
              <a:ext uri="{FF2B5EF4-FFF2-40B4-BE49-F238E27FC236}">
                <a16:creationId xmlns:a16="http://schemas.microsoft.com/office/drawing/2014/main" id="{3A30B08E-C18A-A1BC-1545-FBA02DA7A605}"/>
              </a:ext>
            </a:extLst>
          </p:cNvPr>
          <p:cNvGraphicFramePr>
            <a:graphicFrameLocks/>
          </p:cNvGraphicFramePr>
          <p:nvPr>
            <p:extLst>
              <p:ext uri="{D42A27DB-BD31-4B8C-83A1-F6EECF244321}">
                <p14:modId xmlns:p14="http://schemas.microsoft.com/office/powerpoint/2010/main" val="1165153916"/>
              </p:ext>
            </p:extLst>
          </p:nvPr>
        </p:nvGraphicFramePr>
        <p:xfrm>
          <a:off x="5991069" y="2624959"/>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212" name="Google Shape;212;p27"/>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under  consideration: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IN" dirty="0">
                <a:latin typeface="Lato"/>
                <a:ea typeface="Lato"/>
                <a:cs typeface="Lato"/>
                <a:sym typeface="Lato"/>
              </a:rPr>
              <a:t>City</a:t>
            </a:r>
          </a:p>
          <a:p>
            <a:pPr lvl="0"/>
            <a:r>
              <a:rPr lang="en-IN" dirty="0"/>
              <a:t>Opportunity Status (WON)</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285750" lvl="0" indent="-285750">
              <a:buFont typeface="Arial" panose="020B0604020202020204" pitchFamily="34" charset="0"/>
              <a:buChar char="•"/>
            </a:pPr>
            <a:r>
              <a:rPr lang="en-US" dirty="0"/>
              <a:t>Mumbai and Delhi have the highest conversion rates at </a:t>
            </a:r>
          </a:p>
          <a:p>
            <a:pPr lvl="0"/>
            <a:r>
              <a:rPr lang="en-US" dirty="0"/>
              <a:t>      25 percent and 23 percent.</a:t>
            </a:r>
          </a:p>
          <a:p>
            <a:pPr marL="285750" lvl="0" indent="-285750">
              <a:buFont typeface="Arial" panose="020B0604020202020204" pitchFamily="34" charset="0"/>
              <a:buChar char="•"/>
            </a:pPr>
            <a:r>
              <a:rPr lang="en-US" dirty="0"/>
              <a:t>Kolkata and Pune have the lowest conversion rates at </a:t>
            </a:r>
          </a:p>
          <a:p>
            <a:pPr lvl="0"/>
            <a:r>
              <a:rPr lang="en-US" dirty="0"/>
              <a:t>    21 percent and 19 percent.</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graphicFrame>
        <p:nvGraphicFramePr>
          <p:cNvPr id="5" name="Chart 4">
            <a:extLst>
              <a:ext uri="{FF2B5EF4-FFF2-40B4-BE49-F238E27FC236}">
                <a16:creationId xmlns:a16="http://schemas.microsoft.com/office/drawing/2014/main" id="{6C113BCE-C856-6A70-8DE2-5C2ABC061648}"/>
              </a:ext>
            </a:extLst>
          </p:cNvPr>
          <p:cNvGraphicFramePr>
            <a:graphicFrameLocks/>
          </p:cNvGraphicFramePr>
          <p:nvPr>
            <p:extLst>
              <p:ext uri="{D42A27DB-BD31-4B8C-83A1-F6EECF244321}">
                <p14:modId xmlns:p14="http://schemas.microsoft.com/office/powerpoint/2010/main" val="2038305250"/>
              </p:ext>
            </p:extLst>
          </p:nvPr>
        </p:nvGraphicFramePr>
        <p:xfrm>
          <a:off x="5854262" y="2320158"/>
          <a:ext cx="5499538" cy="3944007"/>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219" name="Google Shape;219;p28"/>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under  consideration: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lvl="0"/>
            <a:r>
              <a:rPr lang="en-IN" dirty="0"/>
              <a:t>B2B Sales Medium </a:t>
            </a:r>
          </a:p>
          <a:p>
            <a:pPr lvl="0"/>
            <a:r>
              <a:rPr lang="en-IN" dirty="0"/>
              <a:t>Opportunity Status </a:t>
            </a:r>
          </a:p>
          <a:p>
            <a:pPr lvl="0"/>
            <a:endParaRPr lang="en-IN" sz="1400" b="0" i="0" u="none" strike="noStrike" cap="none" dirty="0">
              <a:solidFill>
                <a:srgbClr val="000000"/>
              </a:solidFill>
              <a:latin typeface="Lato"/>
              <a:ea typeface="Lato"/>
              <a:cs typeface="Lato"/>
              <a:sym typeface="Lato"/>
            </a:endParaRPr>
          </a:p>
          <a:p>
            <a:pPr lvl="0"/>
            <a:r>
              <a:rPr lang="en-US" dirty="0"/>
              <a:t>As you can see, most of the leads are coming through marketing, </a:t>
            </a:r>
          </a:p>
          <a:p>
            <a:pPr lvl="0"/>
            <a:r>
              <a:rPr lang="en-US" dirty="0"/>
              <a:t>but the conversion rate is only 8.87 percent. </a:t>
            </a:r>
          </a:p>
          <a:p>
            <a:pPr lvl="0"/>
            <a:r>
              <a:rPr lang="en-US" dirty="0"/>
              <a:t>This shows a clear gap that needs attention.</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graphicFrame>
        <p:nvGraphicFramePr>
          <p:cNvPr id="4" name="Chart 3">
            <a:extLst>
              <a:ext uri="{FF2B5EF4-FFF2-40B4-BE49-F238E27FC236}">
                <a16:creationId xmlns:a16="http://schemas.microsoft.com/office/drawing/2014/main" id="{12427382-13A4-F17B-9D83-6FE662110622}"/>
              </a:ext>
            </a:extLst>
          </p:cNvPr>
          <p:cNvGraphicFramePr>
            <a:graphicFrameLocks/>
          </p:cNvGraphicFramePr>
          <p:nvPr>
            <p:extLst>
              <p:ext uri="{D42A27DB-BD31-4B8C-83A1-F6EECF244321}">
                <p14:modId xmlns:p14="http://schemas.microsoft.com/office/powerpoint/2010/main" val="4054242469"/>
              </p:ext>
            </p:extLst>
          </p:nvPr>
        </p:nvGraphicFramePr>
        <p:xfrm>
          <a:off x="5749676" y="2081047"/>
          <a:ext cx="5822730" cy="374168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226" name="Google Shape;226;p29"/>
          <p:cNvSpPr txBox="1"/>
          <p:nvPr/>
        </p:nvSpPr>
        <p:spPr>
          <a:xfrm>
            <a:off x="317188" y="1798905"/>
            <a:ext cx="4037836" cy="4555093"/>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Recommendations</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IN"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IN" dirty="0">
              <a:latin typeface="Lato"/>
              <a:ea typeface="Lato"/>
              <a:cs typeface="Lato"/>
              <a:sym typeface="Lato"/>
            </a:endParaRPr>
          </a:p>
          <a:p>
            <a:pPr marL="285750" indent="-285750">
              <a:buFont typeface="Arial" panose="020B0604020202020204" pitchFamily="34" charset="0"/>
              <a:buChar char="•"/>
            </a:pPr>
            <a:r>
              <a:rPr lang="en-US" dirty="0"/>
              <a:t>Management should increase investment in marketing and enterprise sales.</a:t>
            </a:r>
          </a:p>
          <a:p>
            <a:pPr marL="285750" indent="-285750">
              <a:buFont typeface="Arial" panose="020B0604020202020204" pitchFamily="34" charset="0"/>
              <a:buChar char="•"/>
            </a:pPr>
            <a:r>
              <a:rPr lang="en-US" dirty="0"/>
              <a:t>It is also important to hire more tech-savvy professionals with experience in ERP systems.</a:t>
            </a:r>
          </a:p>
          <a:p>
            <a:pPr marL="285750" indent="-285750">
              <a:buFont typeface="Arial" panose="020B0604020202020204" pitchFamily="34" charset="0"/>
              <a:buChar char="•"/>
            </a:pPr>
            <a:r>
              <a:rPr lang="en-US" dirty="0"/>
              <a:t>The sales team requires structured training. They should be provided with a clear template and a well-prepared sales pitch.</a:t>
            </a:r>
          </a:p>
          <a:p>
            <a:pPr marL="285750" indent="-285750">
              <a:buFont typeface="Arial" panose="020B0604020202020204" pitchFamily="34" charset="0"/>
              <a:buChar char="•"/>
            </a:pPr>
            <a:r>
              <a:rPr lang="en-US" dirty="0"/>
              <a:t>The system needs timely upgrades.</a:t>
            </a:r>
            <a:br>
              <a:rPr lang="en-US" dirty="0"/>
            </a:br>
            <a:r>
              <a:rPr lang="en-US" dirty="0"/>
              <a:t>Additionally, greater focus on the Mumbai and Delhi markets is recommended, as these locations generate the highest number of conversions.</a:t>
            </a: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0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000" b="1" i="0" u="none" strike="noStrike" cap="none" dirty="0">
              <a:solidFill>
                <a:srgbClr val="000000"/>
              </a:solidFill>
              <a:latin typeface="Lato"/>
              <a:ea typeface="Lato"/>
              <a:cs typeface="Lato"/>
              <a:sym typeface="Lato"/>
            </a:endParaRPr>
          </a:p>
        </p:txBody>
      </p:sp>
      <p:sp>
        <p:nvSpPr>
          <p:cNvPr id="227" name="Google Shape;227;p29"/>
          <p:cNvSpPr txBox="1"/>
          <p:nvPr/>
        </p:nvSpPr>
        <p:spPr>
          <a:xfrm>
            <a:off x="4494508" y="1800542"/>
            <a:ext cx="7206712" cy="4555093"/>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Corresponding Insights</a:t>
            </a:r>
            <a:endParaRPr dirty="0"/>
          </a:p>
          <a:p>
            <a:pPr marL="285750" marR="0" lvl="0" indent="-285750" algn="l" rtl="0">
              <a:lnSpc>
                <a:spcPct val="100000"/>
              </a:lnSpc>
              <a:spcBef>
                <a:spcPts val="0"/>
              </a:spcBef>
              <a:spcAft>
                <a:spcPts val="0"/>
              </a:spcAft>
              <a:buFont typeface="Arial" panose="020B0604020202020204" pitchFamily="34" charset="0"/>
              <a:buChar char="•"/>
            </a:pPr>
            <a:endParaRPr lang="en-US" dirty="0">
              <a:latin typeface="Lato"/>
              <a:ea typeface="Lato"/>
              <a:cs typeface="Lato"/>
              <a:sym typeface="Lato"/>
            </a:endParaRPr>
          </a:p>
          <a:p>
            <a:pPr marL="285750" indent="-285750">
              <a:buFont typeface="Arial" panose="020B0604020202020204" pitchFamily="34" charset="0"/>
              <a:buChar char="•"/>
            </a:pPr>
            <a:r>
              <a:rPr lang="en-US" dirty="0"/>
              <a:t>We are losing 78 percent of our leads, and only 22 percent are converting. This is a significant gap, and it highlights the need to train the sales team.</a:t>
            </a:r>
          </a:p>
          <a:p>
            <a:pPr marL="285750" indent="-285750">
              <a:buFont typeface="Arial" panose="020B0604020202020204" pitchFamily="34" charset="0"/>
              <a:buChar char="•"/>
            </a:pPr>
            <a:r>
              <a:rPr lang="en-US" dirty="0"/>
              <a:t>We also have a higher number of customers interested in ERP implementation.</a:t>
            </a:r>
          </a:p>
          <a:p>
            <a:pPr marL="285750" indent="-285750">
              <a:buFont typeface="Arial" panose="020B0604020202020204" pitchFamily="34" charset="0"/>
              <a:buChar char="•"/>
            </a:pPr>
            <a:r>
              <a:rPr lang="en-US" dirty="0"/>
              <a:t>Mumbai and Delhi are the markets from which we receive the highest number of leads. This indicates that these two cities have the strongest potential to generate revenue for the company.</a:t>
            </a:r>
          </a:p>
          <a:p>
            <a:pPr marL="285750" indent="-285750">
              <a:buFont typeface="Arial" panose="020B0604020202020204" pitchFamily="34" charset="0"/>
              <a:buChar char="•"/>
            </a:pPr>
            <a:r>
              <a:rPr lang="en-US" dirty="0"/>
              <a:t>Marketing and enterprise sellers are contributing 93 percent of the total leads, making them the strongest lead sources for the business.</a:t>
            </a:r>
          </a:p>
          <a:p>
            <a:pPr marL="285750" indent="-285750">
              <a:buFont typeface="Arial" panose="020B0604020202020204" pitchFamily="34" charset="0"/>
              <a:buChar char="•"/>
            </a:pPr>
            <a:r>
              <a:rPr lang="en-US" dirty="0"/>
              <a:t>The main cause of the drop from 35 percent to 25 percent is that management is not ready to invest in innovation or after-sales service. They are also not investing in strengthening the brand image.</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1"/>
          <p:cNvSpPr txBox="1">
            <a:spLocks noGrp="1"/>
          </p:cNvSpPr>
          <p:nvPr>
            <p:ph type="title"/>
          </p:nvPr>
        </p:nvSpPr>
        <p:spPr>
          <a:xfrm>
            <a:off x="838200" y="30516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B : Presenting Findings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pic>
        <p:nvPicPr>
          <p:cNvPr id="2" name="Picture 1">
            <a:extLst>
              <a:ext uri="{FF2B5EF4-FFF2-40B4-BE49-F238E27FC236}">
                <a16:creationId xmlns:a16="http://schemas.microsoft.com/office/drawing/2014/main" id="{908D597B-0563-4CF2-9007-30D54D55B3F2}"/>
              </a:ext>
            </a:extLst>
          </p:cNvPr>
          <p:cNvPicPr>
            <a:picLocks noChangeAspect="1"/>
          </p:cNvPicPr>
          <p:nvPr/>
        </p:nvPicPr>
        <p:blipFill rotWithShape="1">
          <a:blip r:embed="rId3"/>
          <a:srcRect l="4532" t="21294" r="5220" b="10476"/>
          <a:stretch/>
        </p:blipFill>
        <p:spPr>
          <a:xfrm>
            <a:off x="594527" y="1630728"/>
            <a:ext cx="11002945" cy="40842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1038</TotalTime>
  <Words>2316</Words>
  <Application>Microsoft Office PowerPoint</Application>
  <PresentationFormat>Widescreen</PresentationFormat>
  <Paragraphs>398</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Lato</vt:lpstr>
      <vt:lpstr>Calibri</vt:lpstr>
      <vt:lpstr>Arial</vt:lpstr>
      <vt:lpstr>Office Theme</vt:lpstr>
      <vt:lpstr>ASSIGNMENT GUIDELINES</vt:lpstr>
      <vt:lpstr>ASSIGNMENT   Name: Rahul Kumar</vt:lpstr>
      <vt:lpstr>PART I : 1. Understanding the Problem   Sales Pipeline Conversion at a SaaS Startup</vt:lpstr>
      <vt:lpstr>PART I : 2. Understanding the Problem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B : Presenting Findings   Sales Pipeline Conversion at a SaaS Startup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RAHUL KUMAR</dc:creator>
  <cp:lastModifiedBy>RAHUL KUMAR</cp:lastModifiedBy>
  <cp:revision>9</cp:revision>
  <dcterms:modified xsi:type="dcterms:W3CDTF">2025-11-25T11:10:56Z</dcterms:modified>
</cp:coreProperties>
</file>